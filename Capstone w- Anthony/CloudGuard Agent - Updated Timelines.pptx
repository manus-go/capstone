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 id="2147483661" r:id="rId6"/>
  </p:sldMasterIdLst>
  <p:notesMasterIdLst>
    <p:notesMasterId r:id="rId7"/>
  </p:notesMasterIdLst>
  <p:sldIdLst>
    <p:sldId id="256" r:id="rId8"/>
    <p:sldId id="257" r:id="rId9"/>
    <p:sldId id="258" r:id="rId10"/>
    <p:sldId id="259" r:id="rId11"/>
    <p:sldId id="260" r:id="rId12"/>
    <p:sldId id="261" r:id="rId13"/>
    <p:sldId id="262" r:id="rId14"/>
  </p:sldIdLst>
  <p:sldSz cy="5143500" cx="9144000"/>
  <p:notesSz cx="6858000" cy="9144000"/>
  <p:embeddedFontLst>
    <p:embeddedFont>
      <p:font typeface="Poppins"/>
      <p:regular r:id="rId15"/>
      <p:bold r:id="rId16"/>
      <p:italic r:id="rId17"/>
      <p:bold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7A2E053-07E2-4560-9BDE-82A63B5185E3}">
  <a:tblStyle styleId="{37A2E053-07E2-4560-9BDE-82A63B5185E3}"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15" Type="http://schemas.openxmlformats.org/officeDocument/2006/relationships/font" Target="fonts/Poppins-regular.fntdata"/><Relationship Id="rId14" Type="http://schemas.openxmlformats.org/officeDocument/2006/relationships/slide" Target="slides/slide7.xml"/><Relationship Id="rId17" Type="http://schemas.openxmlformats.org/officeDocument/2006/relationships/font" Target="fonts/Poppins-italic.fntdata"/><Relationship Id="rId16" Type="http://schemas.openxmlformats.org/officeDocument/2006/relationships/font" Target="fonts/Poppins-bold.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18" Type="http://schemas.openxmlformats.org/officeDocument/2006/relationships/font" Target="fonts/Poppins-boldItalic.fntdata"/><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h54a6c85cd84846d0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h54a6c85cd84846d0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h54a6c85cd84846d0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h54a6c85cd84846d0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h54a6c85cd84846d0_15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h54a6c85cd84846d0_15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Justin</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h54a6c85cd84846d0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h54a6c85cd84846d0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h54a6c85cd84846d0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h54a6c85cd84846d0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h54a6c85cd84846d0_15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h54a6c85cd84846d0_15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7" name="Shape 57"/>
        <p:cNvGrpSpPr/>
        <p:nvPr/>
      </p:nvGrpSpPr>
      <p:grpSpPr>
        <a:xfrm>
          <a:off x="0" y="0"/>
          <a:ext cx="0" cy="0"/>
          <a:chOff x="0" y="0"/>
          <a:chExt cx="0" cy="0"/>
        </a:xfrm>
      </p:grpSpPr>
      <p:sp>
        <p:nvSpPr>
          <p:cNvPr id="58" name="Google Shape;58;p14"/>
          <p:cNvSpPr txBox="1"/>
          <p:nvPr>
            <p:ph type="title"/>
          </p:nvPr>
        </p:nvSpPr>
        <p:spPr>
          <a:xfrm>
            <a:off x="313200" y="216000"/>
            <a:ext cx="8521200" cy="7755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rgbClr val="0E115F"/>
              </a:buClr>
              <a:buSzPts val="1400"/>
              <a:buNone/>
              <a:defRPr/>
            </a:lvl1pPr>
            <a:lvl2pPr lvl="1" algn="l">
              <a:lnSpc>
                <a:spcPct val="100000"/>
              </a:lnSpc>
              <a:spcBef>
                <a:spcPts val="0"/>
              </a:spcBef>
              <a:spcAft>
                <a:spcPts val="0"/>
              </a:spcAft>
              <a:buSzPts val="2600"/>
              <a:buNone/>
              <a:defRPr/>
            </a:lvl2pPr>
            <a:lvl3pPr lvl="2" algn="l">
              <a:lnSpc>
                <a:spcPct val="100000"/>
              </a:lnSpc>
              <a:spcBef>
                <a:spcPts val="0"/>
              </a:spcBef>
              <a:spcAft>
                <a:spcPts val="0"/>
              </a:spcAft>
              <a:buSzPts val="2600"/>
              <a:buNone/>
              <a:defRPr/>
            </a:lvl3pPr>
            <a:lvl4pPr lvl="3" algn="l">
              <a:lnSpc>
                <a:spcPct val="100000"/>
              </a:lnSpc>
              <a:spcBef>
                <a:spcPts val="0"/>
              </a:spcBef>
              <a:spcAft>
                <a:spcPts val="0"/>
              </a:spcAft>
              <a:buSzPts val="2600"/>
              <a:buNone/>
              <a:defRPr/>
            </a:lvl4pPr>
            <a:lvl5pPr lvl="4" algn="l">
              <a:lnSpc>
                <a:spcPct val="100000"/>
              </a:lnSpc>
              <a:spcBef>
                <a:spcPts val="0"/>
              </a:spcBef>
              <a:spcAft>
                <a:spcPts val="0"/>
              </a:spcAft>
              <a:buSzPts val="2600"/>
              <a:buNone/>
              <a:defRPr/>
            </a:lvl5pPr>
            <a:lvl6pPr lvl="5" algn="l">
              <a:lnSpc>
                <a:spcPct val="100000"/>
              </a:lnSpc>
              <a:spcBef>
                <a:spcPts val="0"/>
              </a:spcBef>
              <a:spcAft>
                <a:spcPts val="0"/>
              </a:spcAft>
              <a:buSzPts val="2600"/>
              <a:buNone/>
              <a:defRPr/>
            </a:lvl6pPr>
            <a:lvl7pPr lvl="6" algn="l">
              <a:lnSpc>
                <a:spcPct val="100000"/>
              </a:lnSpc>
              <a:spcBef>
                <a:spcPts val="0"/>
              </a:spcBef>
              <a:spcAft>
                <a:spcPts val="0"/>
              </a:spcAft>
              <a:buSzPts val="2600"/>
              <a:buNone/>
              <a:defRPr/>
            </a:lvl7pPr>
            <a:lvl8pPr lvl="7" algn="l">
              <a:lnSpc>
                <a:spcPct val="100000"/>
              </a:lnSpc>
              <a:spcBef>
                <a:spcPts val="0"/>
              </a:spcBef>
              <a:spcAft>
                <a:spcPts val="0"/>
              </a:spcAft>
              <a:buSzPts val="2600"/>
              <a:buNone/>
              <a:defRPr/>
            </a:lvl8pPr>
            <a:lvl9pPr lvl="8" algn="l">
              <a:lnSpc>
                <a:spcPct val="100000"/>
              </a:lnSpc>
              <a:spcBef>
                <a:spcPts val="0"/>
              </a:spcBef>
              <a:spcAft>
                <a:spcPts val="0"/>
              </a:spcAft>
              <a:buSzPts val="26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2.xml"/><Relationship Id="rId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3200" y="216000"/>
            <a:ext cx="8521200" cy="775500"/>
          </a:xfrm>
          <a:prstGeom prst="rect">
            <a:avLst/>
          </a:prstGeom>
          <a:noFill/>
          <a:ln>
            <a:noFill/>
          </a:ln>
        </p:spPr>
        <p:txBody>
          <a:bodyPr anchorCtr="0" anchor="t" bIns="0" lIns="0" spcFirstLastPara="1" rIns="0" wrap="square" tIns="0">
            <a:noAutofit/>
          </a:bodyPr>
          <a:lstStyle>
            <a:lvl1pPr lvl="0" marR="0" algn="l">
              <a:lnSpc>
                <a:spcPct val="90000"/>
              </a:lnSpc>
              <a:spcBef>
                <a:spcPts val="0"/>
              </a:spcBef>
              <a:spcAft>
                <a:spcPts val="0"/>
              </a:spcAft>
              <a:buClr>
                <a:srgbClr val="0E115F"/>
              </a:buClr>
              <a:buSzPts val="2600"/>
              <a:buFont typeface="Arial"/>
              <a:buNone/>
              <a:defRPr b="1" i="0" sz="2600" u="none" cap="none" strike="noStrike">
                <a:solidFill>
                  <a:srgbClr val="0E115F"/>
                </a:solidFill>
                <a:latin typeface="Arial"/>
                <a:ea typeface="Arial"/>
                <a:cs typeface="Arial"/>
                <a:sym typeface="Arial"/>
              </a:defRPr>
            </a:lvl1pPr>
            <a:lvl2pPr lvl="1" marR="0" algn="l">
              <a:lnSpc>
                <a:spcPct val="100000"/>
              </a:lnSpc>
              <a:spcBef>
                <a:spcPts val="0"/>
              </a:spcBef>
              <a:spcAft>
                <a:spcPts val="0"/>
              </a:spcAft>
              <a:buClr>
                <a:srgbClr val="000000"/>
              </a:buClr>
              <a:buSzPts val="2600"/>
              <a:buFont typeface="Arial"/>
              <a:buNone/>
              <a:defRPr b="0" i="0" sz="26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2600"/>
              <a:buFont typeface="Arial"/>
              <a:buNone/>
              <a:defRPr b="0" i="0" sz="26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2600"/>
              <a:buFont typeface="Arial"/>
              <a:buNone/>
              <a:defRPr b="0" i="0" sz="26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2600"/>
              <a:buFont typeface="Arial"/>
              <a:buNone/>
              <a:defRPr b="0" i="0" sz="26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2600"/>
              <a:buFont typeface="Arial"/>
              <a:buNone/>
              <a:defRPr b="0" i="0" sz="26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2600"/>
              <a:buFont typeface="Arial"/>
              <a:buNone/>
              <a:defRPr b="0" i="0" sz="26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2600"/>
              <a:buFont typeface="Arial"/>
              <a:buNone/>
              <a:defRPr b="0" i="0" sz="26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2600"/>
              <a:buFont typeface="Arial"/>
              <a:buNone/>
              <a:defRPr b="0" i="0" sz="2600" u="none" cap="none" strike="noStrike">
                <a:solidFill>
                  <a:srgbClr val="000000"/>
                </a:solidFill>
                <a:latin typeface="Arial"/>
                <a:ea typeface="Arial"/>
                <a:cs typeface="Arial"/>
                <a:sym typeface="Arial"/>
              </a:defRPr>
            </a:lvl9pPr>
          </a:lstStyle>
          <a:p/>
        </p:txBody>
      </p:sp>
      <p:sp>
        <p:nvSpPr>
          <p:cNvPr id="52" name="Google Shape;52;p13"/>
          <p:cNvSpPr txBox="1"/>
          <p:nvPr>
            <p:ph idx="10" type="dt"/>
          </p:nvPr>
        </p:nvSpPr>
        <p:spPr>
          <a:xfrm>
            <a:off x="278606" y="5416701"/>
            <a:ext cx="2057400" cy="273900"/>
          </a:xfrm>
          <a:prstGeom prst="rect">
            <a:avLst/>
          </a:prstGeom>
          <a:noFill/>
          <a:ln>
            <a:noFill/>
          </a:ln>
        </p:spPr>
        <p:txBody>
          <a:bodyPr anchorCtr="0" anchor="ctr" bIns="34275" lIns="68575" spcFirstLastPara="1" rIns="68575" wrap="square" tIns="34275">
            <a:noAutofit/>
          </a:bodyPr>
          <a:lstStyle>
            <a:lvl1pPr lvl="0" marR="0" algn="l">
              <a:lnSpc>
                <a:spcPct val="100000"/>
              </a:lnSpc>
              <a:spcBef>
                <a:spcPts val="0"/>
              </a:spcBef>
              <a:spcAft>
                <a:spcPts val="0"/>
              </a:spcAft>
              <a:buClr>
                <a:srgbClr val="000000"/>
              </a:buClr>
              <a:buSzPts val="1100"/>
              <a:buFont typeface="Arial"/>
              <a:buNone/>
              <a:defRPr b="0" i="0" sz="900" u="none" cap="none" strike="noStrike">
                <a:solidFill>
                  <a:srgbClr val="898989"/>
                </a:solidFill>
                <a:latin typeface="Arial"/>
                <a:ea typeface="Arial"/>
                <a:cs typeface="Arial"/>
                <a:sym typeface="Arial"/>
              </a:defRPr>
            </a:lvl1pPr>
            <a:lvl2pPr lvl="1"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9pPr>
          </a:lstStyle>
          <a:p/>
        </p:txBody>
      </p:sp>
      <p:sp>
        <p:nvSpPr>
          <p:cNvPr id="53" name="Google Shape;53;p13"/>
          <p:cNvSpPr txBox="1"/>
          <p:nvPr>
            <p:ph idx="11" type="ftr"/>
          </p:nvPr>
        </p:nvSpPr>
        <p:spPr>
          <a:xfrm>
            <a:off x="2219818" y="4773796"/>
            <a:ext cx="4707300" cy="135600"/>
          </a:xfrm>
          <a:prstGeom prst="rect">
            <a:avLst/>
          </a:prstGeom>
          <a:noFill/>
          <a:ln>
            <a:noFill/>
          </a:ln>
        </p:spPr>
        <p:txBody>
          <a:bodyPr anchorCtr="0" anchor="ctr" bIns="0" lIns="0" spcFirstLastPara="1" rIns="0" wrap="square" tIns="0">
            <a:noAutofit/>
          </a:bodyPr>
          <a:lstStyle>
            <a:lvl1pPr lvl="0" marR="0" algn="ctr">
              <a:lnSpc>
                <a:spcPct val="100000"/>
              </a:lnSpc>
              <a:spcBef>
                <a:spcPts val="0"/>
              </a:spcBef>
              <a:spcAft>
                <a:spcPts val="0"/>
              </a:spcAft>
              <a:buClr>
                <a:srgbClr val="000000"/>
              </a:buClr>
              <a:buSzPts val="1100"/>
              <a:buFont typeface="Arial"/>
              <a:buNone/>
              <a:defRPr b="0" i="0" sz="8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9pPr>
          </a:lstStyle>
          <a:p/>
        </p:txBody>
      </p:sp>
      <p:sp>
        <p:nvSpPr>
          <p:cNvPr id="54" name="Google Shape;54;p13"/>
          <p:cNvSpPr txBox="1"/>
          <p:nvPr>
            <p:ph idx="12" type="sldNum"/>
          </p:nvPr>
        </p:nvSpPr>
        <p:spPr>
          <a:xfrm>
            <a:off x="6807992" y="5392529"/>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id="55" name="Google Shape;55;p13"/>
          <p:cNvPicPr preferRelativeResize="0"/>
          <p:nvPr/>
        </p:nvPicPr>
        <p:blipFill rotWithShape="1">
          <a:blip r:embed="rId1">
            <a:alphaModFix/>
          </a:blip>
          <a:srcRect b="0" l="0" r="0" t="0"/>
          <a:stretch/>
        </p:blipFill>
        <p:spPr>
          <a:xfrm>
            <a:off x="8204100" y="4722425"/>
            <a:ext cx="749195" cy="325188"/>
          </a:xfrm>
          <a:prstGeom prst="rect">
            <a:avLst/>
          </a:prstGeom>
          <a:noFill/>
          <a:ln>
            <a:noFill/>
          </a:ln>
        </p:spPr>
      </p:pic>
      <p:sp>
        <p:nvSpPr>
          <p:cNvPr id="56" name="Google Shape;56;p13"/>
          <p:cNvSpPr txBox="1"/>
          <p:nvPr>
            <p:ph idx="1" type="body"/>
          </p:nvPr>
        </p:nvSpPr>
        <p:spPr>
          <a:xfrm>
            <a:off x="278606" y="1455233"/>
            <a:ext cx="8586900" cy="2916600"/>
          </a:xfrm>
          <a:prstGeom prst="rect">
            <a:avLst/>
          </a:prstGeom>
          <a:noFill/>
          <a:ln>
            <a:noFill/>
          </a:ln>
        </p:spPr>
        <p:txBody>
          <a:bodyPr anchorCtr="0" anchor="t" bIns="0" lIns="0" spcFirstLastPara="1" rIns="0" wrap="square" tIns="0">
            <a:noAutofit/>
          </a:bodyPr>
          <a:lstStyle>
            <a:lvl1pPr indent="-323850" lvl="0" marL="457200" marR="0" algn="l">
              <a:lnSpc>
                <a:spcPct val="100000"/>
              </a:lnSpc>
              <a:spcBef>
                <a:spcPts val="0"/>
              </a:spcBef>
              <a:spcAft>
                <a:spcPts val="0"/>
              </a:spcAft>
              <a:buClr>
                <a:srgbClr val="006AB0"/>
              </a:buClr>
              <a:buSzPts val="1500"/>
              <a:buFont typeface="Arial"/>
              <a:buChar char="●"/>
              <a:defRPr b="0" i="0" sz="1400" u="none" cap="none" strike="noStrike">
                <a:solidFill>
                  <a:srgbClr val="000000"/>
                </a:solidFill>
                <a:latin typeface="Arial"/>
                <a:ea typeface="Arial"/>
                <a:cs typeface="Arial"/>
                <a:sym typeface="Arial"/>
              </a:defRPr>
            </a:lvl1pPr>
            <a:lvl2pPr indent="-323850" lvl="1" marL="914400" marR="0" algn="l">
              <a:lnSpc>
                <a:spcPct val="90000"/>
              </a:lnSpc>
              <a:spcBef>
                <a:spcPts val="400"/>
              </a:spcBef>
              <a:spcAft>
                <a:spcPts val="0"/>
              </a:spcAft>
              <a:buClr>
                <a:schemeClr val="dk1"/>
              </a:buClr>
              <a:buSzPts val="1500"/>
              <a:buFont typeface="Arial"/>
              <a:buChar char="○"/>
              <a:defRPr b="0" i="0" sz="1400" u="none" cap="none" strike="noStrike">
                <a:solidFill>
                  <a:srgbClr val="000000"/>
                </a:solidFill>
                <a:latin typeface="Arial"/>
                <a:ea typeface="Arial"/>
                <a:cs typeface="Arial"/>
                <a:sym typeface="Arial"/>
              </a:defRPr>
            </a:lvl2pPr>
            <a:lvl3pPr indent="-317500" lvl="2" marL="1371600" marR="0" algn="l">
              <a:lnSpc>
                <a:spcPct val="90000"/>
              </a:lnSpc>
              <a:spcBef>
                <a:spcPts val="400"/>
              </a:spcBef>
              <a:spcAft>
                <a:spcPts val="0"/>
              </a:spcAft>
              <a:buClr>
                <a:schemeClr val="dk1"/>
              </a:buClr>
              <a:buSzPts val="1400"/>
              <a:buFont typeface="Arial"/>
              <a:buChar char="■"/>
              <a:defRPr b="0" i="0" sz="1400" u="none" cap="none" strike="noStrike">
                <a:solidFill>
                  <a:srgbClr val="000000"/>
                </a:solidFill>
                <a:latin typeface="Arial"/>
                <a:ea typeface="Arial"/>
                <a:cs typeface="Arial"/>
                <a:sym typeface="Arial"/>
              </a:defRPr>
            </a:lvl3pPr>
            <a:lvl4pPr indent="-323850" lvl="3" marL="1828800" marR="0" algn="l">
              <a:lnSpc>
                <a:spcPct val="90000"/>
              </a:lnSpc>
              <a:spcBef>
                <a:spcPts val="400"/>
              </a:spcBef>
              <a:spcAft>
                <a:spcPts val="0"/>
              </a:spcAft>
              <a:buClr>
                <a:schemeClr val="dk1"/>
              </a:buClr>
              <a:buSzPts val="1500"/>
              <a:buFont typeface="Arial"/>
              <a:buChar char="●"/>
              <a:defRPr b="0" i="0" sz="1400" u="none" cap="none" strike="noStrike">
                <a:solidFill>
                  <a:srgbClr val="000000"/>
                </a:solidFill>
                <a:latin typeface="Arial"/>
                <a:ea typeface="Arial"/>
                <a:cs typeface="Arial"/>
                <a:sym typeface="Arial"/>
              </a:defRPr>
            </a:lvl4pPr>
            <a:lvl5pPr indent="-317500" lvl="4" marL="2286000" marR="0" algn="l">
              <a:lnSpc>
                <a:spcPct val="90000"/>
              </a:lnSpc>
              <a:spcBef>
                <a:spcPts val="400"/>
              </a:spcBef>
              <a:spcAft>
                <a:spcPts val="0"/>
              </a:spcAft>
              <a:buClr>
                <a:schemeClr val="dk1"/>
              </a:buClr>
              <a:buSzPts val="1400"/>
              <a:buFont typeface="Arial"/>
              <a:buChar char="○"/>
              <a:defRPr b="0" i="0" sz="1400" u="none" cap="none" strike="noStrike">
                <a:solidFill>
                  <a:srgbClr val="000000"/>
                </a:solidFill>
                <a:latin typeface="Arial"/>
                <a:ea typeface="Arial"/>
                <a:cs typeface="Arial"/>
                <a:sym typeface="Arial"/>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rgbClr val="000000"/>
                </a:solidFill>
                <a:latin typeface="Arial"/>
                <a:ea typeface="Arial"/>
                <a:cs typeface="Arial"/>
                <a:sym typeface="Arial"/>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rgbClr val="000000"/>
                </a:solidFill>
                <a:latin typeface="Arial"/>
                <a:ea typeface="Arial"/>
                <a:cs typeface="Arial"/>
                <a:sym typeface="Arial"/>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rgbClr val="000000"/>
                </a:solidFill>
                <a:latin typeface="Arial"/>
                <a:ea typeface="Arial"/>
                <a:cs typeface="Arial"/>
                <a:sym typeface="Arial"/>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5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175">
          <p15:clr>
            <a:srgbClr val="F26B43"/>
          </p15:clr>
        </p15:guide>
        <p15:guide id="2" pos="5585">
          <p15:clr>
            <a:srgbClr val="F26B43"/>
          </p15:clr>
        </p15:guide>
        <p15:guide id="3" pos="2880">
          <p15:clr>
            <a:srgbClr val="F26B43"/>
          </p15:clr>
        </p15:guide>
        <p15:guide id="4" orient="horz" pos="3078">
          <p15:clr>
            <a:srgbClr val="F26B43"/>
          </p15:clr>
        </p15:guide>
        <p15:guide id="5" orient="horz" pos="915">
          <p15:clr>
            <a:srgbClr val="F26B43"/>
          </p15:clr>
        </p15:guide>
        <p15:guide id="6" orient="horz" pos="276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5"/>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CloudGuard Agent</a:t>
            </a:r>
            <a:endParaRPr/>
          </a:p>
        </p:txBody>
      </p:sp>
      <p:sp>
        <p:nvSpPr>
          <p:cNvPr id="64" name="Google Shape;64;p15"/>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25000" lnSpcReduction="20000"/>
          </a:bodyPr>
          <a:lstStyle/>
          <a:p>
            <a:pPr indent="0" lvl="0" marL="0" rtl="0" algn="l">
              <a:lnSpc>
                <a:spcPct val="115000"/>
              </a:lnSpc>
              <a:spcBef>
                <a:spcPts val="0"/>
              </a:spcBef>
              <a:spcAft>
                <a:spcPts val="0"/>
              </a:spcAft>
              <a:buClr>
                <a:schemeClr val="dk1"/>
              </a:buClr>
              <a:buSzPct val="27363"/>
              <a:buFont typeface="Arial"/>
              <a:buNone/>
            </a:pPr>
            <a:r>
              <a:rPr lang="en-GB" sz="4020">
                <a:solidFill>
                  <a:schemeClr val="dk1"/>
                </a:solidFill>
              </a:rPr>
              <a:t>This project delivers an AI-powered security remediation pipeline that captures Security Command Center alerts, logs them to BigQuery for compliance auditing, and uses Firestore to seamlessly deduplicate notifications. When a vulnerability is detected, Vertex AI automatically translates the threat into deployable Terraform code and presents it to engineers via an interactive Google Chat alert. By allowing engineers to resolve the issue with one click via an automated GitOps Pull Request, this solution drastically reduces response times while enforcing strict infrastructure-as-code controls.</a:t>
            </a:r>
            <a:endParaRPr sz="4020">
              <a:solidFill>
                <a:schemeClr val="dk1"/>
              </a:solidFill>
            </a:endParaRPr>
          </a:p>
          <a:p>
            <a:pPr indent="0" lvl="0" marL="0" rtl="0" algn="l">
              <a:lnSpc>
                <a:spcPct val="115000"/>
              </a:lnSpc>
              <a:spcBef>
                <a:spcPts val="0"/>
              </a:spcBef>
              <a:spcAft>
                <a:spcPts val="0"/>
              </a:spcAft>
              <a:buClr>
                <a:schemeClr val="dk1"/>
              </a:buClr>
              <a:buSzPct val="100000"/>
              <a:buFont typeface="Arial"/>
              <a:buNone/>
            </a:pPr>
            <a:r>
              <a:t/>
            </a:r>
            <a:endParaRPr sz="1100">
              <a:solidFill>
                <a:schemeClr val="dk1"/>
              </a:solidFill>
            </a:endParaRPr>
          </a:p>
          <a:p>
            <a:pPr indent="0" lvl="0" marL="0" rtl="0" algn="ctr">
              <a:spcBef>
                <a:spcPts val="0"/>
              </a:spcBef>
              <a:spcAft>
                <a:spcPts val="0"/>
              </a:spcAft>
              <a:buNone/>
            </a:pPr>
            <a:r>
              <a:t/>
            </a:r>
            <a:endParaRPr/>
          </a:p>
        </p:txBody>
      </p:sp>
      <p:sp>
        <p:nvSpPr>
          <p:cNvPr id="65" name="Google Shape;65;p15"/>
          <p:cNvSpPr txBox="1"/>
          <p:nvPr>
            <p:ph idx="1" type="subTitle"/>
          </p:nvPr>
        </p:nvSpPr>
        <p:spPr>
          <a:xfrm>
            <a:off x="311700" y="3803550"/>
            <a:ext cx="8520600" cy="7926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lang="en-GB" sz="4020">
                <a:solidFill>
                  <a:schemeClr val="dk1"/>
                </a:solidFill>
              </a:rPr>
              <a:t>CloudGuard Agent is an autonomous cloud security assistant that turns Google Cloud Security Command Center (SCC) findings into instant, actionable decisions inside Google Chat. With Gemini analysing the threat, the agent drafts the well-thought suggestions and possible remediations. CloudGuard bridges threat detection and remediation from minutes to a single tap. Whether you need to deploy an automated Terraform fix via GitOps, assign a GitHub issue, or escalate to an owner, CloudGuard lets security and DevOps teams remediate risks in seconds directly from chat.</a:t>
            </a:r>
            <a:endParaRPr sz="4020">
              <a:solidFill>
                <a:schemeClr val="dk1"/>
              </a:solidFill>
            </a:endParaRPr>
          </a:p>
          <a:p>
            <a:pPr indent="0" lvl="0" marL="0" rtl="0" algn="l">
              <a:spcBef>
                <a:spcPts val="0"/>
              </a:spcBef>
              <a:spcAft>
                <a:spcPts val="0"/>
              </a:spcAft>
              <a:buNone/>
            </a:pPr>
            <a:r>
              <a:t/>
            </a:r>
            <a:endParaRPr sz="402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Architecture Diagram</a:t>
            </a:r>
            <a:endParaRPr/>
          </a:p>
        </p:txBody>
      </p:sp>
      <p:sp>
        <p:nvSpPr>
          <p:cNvPr id="71" name="Google Shape;71;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72" name="Google Shape;72;p16"/>
          <p:cNvPicPr preferRelativeResize="0"/>
          <p:nvPr/>
        </p:nvPicPr>
        <p:blipFill>
          <a:blip r:embed="rId3">
            <a:alphaModFix/>
          </a:blip>
          <a:stretch>
            <a:fillRect/>
          </a:stretch>
        </p:blipFill>
        <p:spPr>
          <a:xfrm>
            <a:off x="1289051" y="1152475"/>
            <a:ext cx="6565890" cy="3991025"/>
          </a:xfrm>
          <a:prstGeom prst="rect">
            <a:avLst/>
          </a:prstGeom>
          <a:noFill/>
          <a:ln>
            <a:noFill/>
          </a:ln>
        </p:spPr>
      </p:pic>
    </p:spTree>
  </p:cSld>
  <p:clrMapOvr>
    <a:masterClrMapping/>
  </p:clrMapOvr>
</p:sld>
</file>

<file path=ppt/slides/slide3.xml><?xml version="1.0" encoding="utf-8"?>
<p:sld xmlns:a="http://schemas.openxmlformats.org/drawingml/2006/main" xmlns:p="http://schemas.openxmlformats.org/presentationml/2006/main">
  <p:cSld>
    <p:spTree>
      <p:nvGrpSpPr>
        <p:cNvPr id="83" name="Shape 83"/>
        <p:cNvGrpSpPr/>
        <p:nvPr/>
      </p:nvGrpSpPr>
      <p:grpSpPr>
        <a:xfrm>
          <a:off x="0" y="0"/>
          <a:ext cx="0" cy="0"/>
          <a:chOff x="0" y="0"/>
          <a:chExt cx="0" cy="0"/>
        </a:xfrm>
      </p:grpSpPr>
      <p:sp>
        <p:nvSpPr>
          <p:cNvPr id="84" name="Google Shape;84;p18"/>
          <p:cNvSpPr txBox="1"/>
          <p:nvPr>
            <p:ph type="title"/>
          </p:nvPr>
        </p:nvSpPr>
        <p:spPr>
          <a:xfrm>
            <a:off x="313200" y="216000"/>
            <a:ext cx="8521200" cy="6690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GB" sz="2800"/>
              <a:t>Project Timeline (Technical Build Steps)</a:t>
            </a:r>
            <a:endParaRPr/>
          </a:p>
        </p:txBody>
      </p:sp>
      <p:graphicFrame>
        <p:nvGraphicFramePr>
          <p:cNvPr id="85" name="Google Shape;85;p18"/>
          <p:cNvGraphicFramePr/>
          <p:nvPr/>
        </p:nvGraphicFramePr>
        <p:xfrm>
          <a:off x="595355" y="1811862"/>
          <a:ext cx="3000000" cy="3000000"/>
        </p:xfrm>
        <a:graphic>
          <a:graphicData uri="http://schemas.openxmlformats.org/drawingml/2006/table">
            <a:tbl>
              <a:tblPr>
                <a:noFill/>
                <a:tableStyleId>{37A2E053-07E2-4560-9BDE-82A63B5185E3}</a:tableStyleId>
              </a:tblPr>
              <a:tblGrid>
                <a:gridCol w="1004500"/>
                <a:gridCol w="1004500"/>
                <a:gridCol w="1004500"/>
                <a:gridCol w="1004500"/>
                <a:gridCol w="1004500"/>
                <a:gridCol w="1004500"/>
                <a:gridCol w="1004500"/>
                <a:gridCol w="1004500"/>
              </a:tblGrid>
              <a:tr h="2621075">
                <a:tc>
                  <a:txBody>
                    <a:bodyPr/>
                    <a:lstStyle/>
                    <a:p>
                      <a:pPr indent="0" lvl="0" marL="0" rtl="0" algn="ctr">
                        <a:spcBef>
                          <a:spcPts val="0"/>
                        </a:spcBef>
                        <a:spcAft>
                          <a:spcPts val="0"/>
                        </a:spcAft>
                        <a:buNone/>
                      </a:pPr>
                      <a:r>
                        <a:t/>
                      </a:r>
                      <a:endParaRPr b="1" sz="1100">
                        <a:solidFill>
                          <a:srgbClr val="FFFFFF"/>
                        </a:solidFill>
                      </a:endParaRPr>
                    </a:p>
                  </a:txBody>
                  <a:tcPr marT="68575" marB="68575" marR="68575" marL="68575">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EEF1F2"/>
                    </a:solidFill>
                  </a:tcPr>
                </a:tc>
                <a:tc>
                  <a:txBody>
                    <a:bodyPr/>
                    <a:lstStyle/>
                    <a:p>
                      <a:pPr indent="0" lvl="0" marL="0" rtl="0" algn="l">
                        <a:spcBef>
                          <a:spcPts val="0"/>
                        </a:spcBef>
                        <a:spcAft>
                          <a:spcPts val="0"/>
                        </a:spcAft>
                        <a:buNone/>
                      </a:pPr>
                      <a:r>
                        <a:t/>
                      </a:r>
                      <a:endParaRPr b="1" sz="1100">
                        <a:solidFill>
                          <a:srgbClr val="FFFFFF"/>
                        </a:solidFill>
                      </a:endParaRPr>
                    </a:p>
                  </a:txBody>
                  <a:tcPr marT="68575" marB="68575" marR="68575" marL="68575">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EEF1F2"/>
                    </a:solidFill>
                  </a:tcPr>
                </a:tc>
                <a:tc>
                  <a:txBody>
                    <a:bodyPr/>
                    <a:lstStyle/>
                    <a:p>
                      <a:pPr indent="0" lvl="0" marL="0" rtl="0" algn="l">
                        <a:spcBef>
                          <a:spcPts val="0"/>
                        </a:spcBef>
                        <a:spcAft>
                          <a:spcPts val="0"/>
                        </a:spcAft>
                        <a:buNone/>
                      </a:pPr>
                      <a:r>
                        <a:t/>
                      </a:r>
                      <a:endParaRPr b="1" sz="1100">
                        <a:solidFill>
                          <a:srgbClr val="FFFFFF"/>
                        </a:solidFill>
                      </a:endParaRPr>
                    </a:p>
                  </a:txBody>
                  <a:tcPr marT="68575" marB="68575" marR="68575" marL="68575">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EEF1F2"/>
                    </a:solidFill>
                  </a:tcPr>
                </a:tc>
                <a:tc>
                  <a:txBody>
                    <a:bodyPr/>
                    <a:lstStyle/>
                    <a:p>
                      <a:pPr indent="0" lvl="0" marL="0" rtl="0" algn="l">
                        <a:spcBef>
                          <a:spcPts val="0"/>
                        </a:spcBef>
                        <a:spcAft>
                          <a:spcPts val="0"/>
                        </a:spcAft>
                        <a:buNone/>
                      </a:pPr>
                      <a:r>
                        <a:t/>
                      </a:r>
                      <a:endParaRPr b="1" sz="1100">
                        <a:solidFill>
                          <a:srgbClr val="FFFFFF"/>
                        </a:solidFill>
                      </a:endParaRPr>
                    </a:p>
                  </a:txBody>
                  <a:tcPr marT="68575" marB="68575" marR="68575" marL="68575">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EEF1F2"/>
                    </a:solidFill>
                  </a:tcPr>
                </a:tc>
                <a:tc>
                  <a:txBody>
                    <a:bodyPr/>
                    <a:lstStyle/>
                    <a:p>
                      <a:pPr indent="0" lvl="0" marL="0" rtl="0" algn="l">
                        <a:spcBef>
                          <a:spcPts val="0"/>
                        </a:spcBef>
                        <a:spcAft>
                          <a:spcPts val="0"/>
                        </a:spcAft>
                        <a:buNone/>
                      </a:pPr>
                      <a:r>
                        <a:t/>
                      </a:r>
                      <a:endParaRPr b="1" sz="1100">
                        <a:solidFill>
                          <a:srgbClr val="FFFFFF"/>
                        </a:solidFill>
                      </a:endParaRPr>
                    </a:p>
                  </a:txBody>
                  <a:tcPr marT="68575" marB="68575" marR="68575" marL="68575">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EEF1F2"/>
                    </a:solidFill>
                  </a:tcPr>
                </a:tc>
                <a:tc>
                  <a:txBody>
                    <a:bodyPr/>
                    <a:lstStyle/>
                    <a:p>
                      <a:pPr indent="0" lvl="0" marL="0" rtl="0" algn="l">
                        <a:spcBef>
                          <a:spcPts val="0"/>
                        </a:spcBef>
                        <a:spcAft>
                          <a:spcPts val="0"/>
                        </a:spcAft>
                        <a:buNone/>
                      </a:pPr>
                      <a:r>
                        <a:t/>
                      </a:r>
                      <a:endParaRPr b="1" sz="1100">
                        <a:solidFill>
                          <a:srgbClr val="FFFFFF"/>
                        </a:solidFill>
                      </a:endParaRPr>
                    </a:p>
                  </a:txBody>
                  <a:tcPr marT="68575" marB="68575" marR="68575" marL="68575">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EEF1F2"/>
                    </a:solidFill>
                  </a:tcPr>
                </a:tc>
                <a:tc>
                  <a:txBody>
                    <a:bodyPr/>
                    <a:lstStyle/>
                    <a:p>
                      <a:pPr indent="0" lvl="0" marL="0" rtl="0" algn="l">
                        <a:spcBef>
                          <a:spcPts val="0"/>
                        </a:spcBef>
                        <a:spcAft>
                          <a:spcPts val="0"/>
                        </a:spcAft>
                        <a:buNone/>
                      </a:pPr>
                      <a:r>
                        <a:t/>
                      </a:r>
                      <a:endParaRPr b="1" sz="1100">
                        <a:solidFill>
                          <a:srgbClr val="FFFFFF"/>
                        </a:solidFill>
                      </a:endParaRPr>
                    </a:p>
                  </a:txBody>
                  <a:tcPr marT="68575" marB="68575" marR="68575" marL="68575">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EEF1F2"/>
                    </a:solidFill>
                  </a:tcPr>
                </a:tc>
                <a:tc>
                  <a:txBody>
                    <a:bodyPr/>
                    <a:lstStyle/>
                    <a:p>
                      <a:pPr indent="0" lvl="0" marL="0" rtl="0" algn="l">
                        <a:spcBef>
                          <a:spcPts val="0"/>
                        </a:spcBef>
                        <a:spcAft>
                          <a:spcPts val="0"/>
                        </a:spcAft>
                        <a:buNone/>
                      </a:pPr>
                      <a:r>
                        <a:t/>
                      </a:r>
                      <a:endParaRPr b="1" sz="1100">
                        <a:solidFill>
                          <a:srgbClr val="FFFFFF"/>
                        </a:solidFill>
                      </a:endParaRPr>
                    </a:p>
                  </a:txBody>
                  <a:tcPr marT="68575" marB="68575" marR="68575" marL="68575">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EEF1F2"/>
                    </a:solidFill>
                  </a:tcPr>
                </a:tc>
              </a:tr>
            </a:tbl>
          </a:graphicData>
        </a:graphic>
      </p:graphicFrame>
      <p:graphicFrame>
        <p:nvGraphicFramePr>
          <p:cNvPr id="86" name="Google Shape;86;p18"/>
          <p:cNvGraphicFramePr/>
          <p:nvPr/>
        </p:nvGraphicFramePr>
        <p:xfrm>
          <a:off x="591230" y="1491687"/>
          <a:ext cx="3000000" cy="3000000"/>
        </p:xfrm>
        <a:graphic>
          <a:graphicData uri="http://schemas.openxmlformats.org/drawingml/2006/table">
            <a:tbl>
              <a:tblPr>
                <a:noFill/>
                <a:tableStyleId>{37A2E053-07E2-4560-9BDE-82A63B5185E3}</a:tableStyleId>
              </a:tblPr>
              <a:tblGrid>
                <a:gridCol w="1004500"/>
                <a:gridCol w="1004500"/>
                <a:gridCol w="1004500"/>
                <a:gridCol w="1004500"/>
                <a:gridCol w="1004500"/>
                <a:gridCol w="1004500"/>
                <a:gridCol w="1004500"/>
                <a:gridCol w="1004500"/>
              </a:tblGrid>
              <a:tr h="285750">
                <a:tc>
                  <a:txBody>
                    <a:bodyPr/>
                    <a:lstStyle/>
                    <a:p>
                      <a:pPr indent="0" lvl="0" marL="0" rtl="0" algn="ctr">
                        <a:spcBef>
                          <a:spcPts val="0"/>
                        </a:spcBef>
                        <a:spcAft>
                          <a:spcPts val="0"/>
                        </a:spcAft>
                        <a:buNone/>
                      </a:pPr>
                      <a:r>
                        <a:rPr b="1" lang="en-GB" sz="1000">
                          <a:solidFill>
                            <a:srgbClr val="FFFFFF"/>
                          </a:solidFill>
                        </a:rPr>
                        <a:t>WEEK 1</a:t>
                      </a:r>
                      <a:endParaRPr b="1" sz="1000">
                        <a:solidFill>
                          <a:srgbClr val="FFFFFF"/>
                        </a:solidFill>
                      </a:endParaRPr>
                    </a:p>
                  </a:txBody>
                  <a:tcPr marT="68575" marB="68575" marR="68575" marL="68575">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36853"/>
                    </a:solidFill>
                  </a:tcPr>
                </a:tc>
                <a:tc>
                  <a:txBody>
                    <a:bodyPr/>
                    <a:lstStyle/>
                    <a:p>
                      <a:pPr indent="0" lvl="0" marL="0" rtl="0" algn="ctr">
                        <a:spcBef>
                          <a:spcPts val="0"/>
                        </a:spcBef>
                        <a:spcAft>
                          <a:spcPts val="0"/>
                        </a:spcAft>
                        <a:buNone/>
                      </a:pPr>
                      <a:r>
                        <a:rPr b="1" lang="en-GB" sz="1000">
                          <a:solidFill>
                            <a:srgbClr val="FFFFFF"/>
                          </a:solidFill>
                        </a:rPr>
                        <a:t>WEEK 2</a:t>
                      </a:r>
                      <a:endParaRPr b="1" sz="1000">
                        <a:solidFill>
                          <a:srgbClr val="FFFFFF"/>
                        </a:solidFill>
                      </a:endParaRPr>
                    </a:p>
                  </a:txBody>
                  <a:tcPr marT="68575" marB="68575" marR="68575" marL="68575">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36853"/>
                    </a:solidFill>
                  </a:tcPr>
                </a:tc>
                <a:tc>
                  <a:txBody>
                    <a:bodyPr/>
                    <a:lstStyle/>
                    <a:p>
                      <a:pPr indent="0" lvl="0" marL="0" rtl="0" algn="ctr">
                        <a:spcBef>
                          <a:spcPts val="0"/>
                        </a:spcBef>
                        <a:spcAft>
                          <a:spcPts val="0"/>
                        </a:spcAft>
                        <a:buNone/>
                      </a:pPr>
                      <a:r>
                        <a:rPr b="1" lang="en-GB" sz="1000">
                          <a:solidFill>
                            <a:srgbClr val="FFFFFF"/>
                          </a:solidFill>
                        </a:rPr>
                        <a:t>WEEK 3</a:t>
                      </a:r>
                      <a:endParaRPr b="1" sz="1000">
                        <a:solidFill>
                          <a:srgbClr val="FFFFFF"/>
                        </a:solidFill>
                      </a:endParaRPr>
                    </a:p>
                  </a:txBody>
                  <a:tcPr marT="68575" marB="68575" marR="68575" marL="68575">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36853"/>
                    </a:solidFill>
                  </a:tcPr>
                </a:tc>
                <a:tc>
                  <a:txBody>
                    <a:bodyPr/>
                    <a:lstStyle/>
                    <a:p>
                      <a:pPr indent="0" lvl="0" marL="0" rtl="0" algn="ctr">
                        <a:spcBef>
                          <a:spcPts val="0"/>
                        </a:spcBef>
                        <a:spcAft>
                          <a:spcPts val="0"/>
                        </a:spcAft>
                        <a:buNone/>
                      </a:pPr>
                      <a:r>
                        <a:rPr b="1" lang="en-GB" sz="1000">
                          <a:solidFill>
                            <a:srgbClr val="FFFFFF"/>
                          </a:solidFill>
                        </a:rPr>
                        <a:t>WEEK 4</a:t>
                      </a:r>
                      <a:endParaRPr b="1" sz="1000">
                        <a:solidFill>
                          <a:srgbClr val="FFFFFF"/>
                        </a:solidFill>
                      </a:endParaRPr>
                    </a:p>
                  </a:txBody>
                  <a:tcPr marT="68575" marB="68575" marR="68575" marL="68575">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36853"/>
                    </a:solidFill>
                  </a:tcPr>
                </a:tc>
                <a:tc>
                  <a:txBody>
                    <a:bodyPr/>
                    <a:lstStyle/>
                    <a:p>
                      <a:pPr indent="0" lvl="0" marL="0" rtl="0" algn="ctr">
                        <a:spcBef>
                          <a:spcPts val="0"/>
                        </a:spcBef>
                        <a:spcAft>
                          <a:spcPts val="0"/>
                        </a:spcAft>
                        <a:buNone/>
                      </a:pPr>
                      <a:r>
                        <a:rPr b="1" lang="en-GB" sz="1000">
                          <a:solidFill>
                            <a:srgbClr val="FFFFFF"/>
                          </a:solidFill>
                        </a:rPr>
                        <a:t>WEEK 5</a:t>
                      </a:r>
                      <a:endParaRPr b="1" sz="1000">
                        <a:solidFill>
                          <a:srgbClr val="FFFFFF"/>
                        </a:solidFill>
                      </a:endParaRPr>
                    </a:p>
                  </a:txBody>
                  <a:tcPr marT="68575" marB="68575" marR="68575" marL="68575">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36853"/>
                    </a:solidFill>
                  </a:tcPr>
                </a:tc>
                <a:tc>
                  <a:txBody>
                    <a:bodyPr/>
                    <a:lstStyle/>
                    <a:p>
                      <a:pPr indent="0" lvl="0" marL="0" rtl="0" algn="ctr">
                        <a:spcBef>
                          <a:spcPts val="0"/>
                        </a:spcBef>
                        <a:spcAft>
                          <a:spcPts val="0"/>
                        </a:spcAft>
                        <a:buNone/>
                      </a:pPr>
                      <a:r>
                        <a:rPr b="1" lang="en-GB" sz="1000">
                          <a:solidFill>
                            <a:srgbClr val="FFFFFF"/>
                          </a:solidFill>
                        </a:rPr>
                        <a:t>WEEK 6</a:t>
                      </a:r>
                      <a:endParaRPr b="1" sz="1000">
                        <a:solidFill>
                          <a:srgbClr val="FFFFFF"/>
                        </a:solidFill>
                      </a:endParaRPr>
                    </a:p>
                  </a:txBody>
                  <a:tcPr marT="68575" marB="68575" marR="68575" marL="68575">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36853"/>
                    </a:solidFill>
                  </a:tcPr>
                </a:tc>
                <a:tc>
                  <a:txBody>
                    <a:bodyPr/>
                    <a:lstStyle/>
                    <a:p>
                      <a:pPr indent="0" lvl="0" marL="0" rtl="0" algn="ctr">
                        <a:spcBef>
                          <a:spcPts val="0"/>
                        </a:spcBef>
                        <a:spcAft>
                          <a:spcPts val="0"/>
                        </a:spcAft>
                        <a:buNone/>
                      </a:pPr>
                      <a:r>
                        <a:rPr b="1" lang="en-GB" sz="1000">
                          <a:solidFill>
                            <a:srgbClr val="FFFFFF"/>
                          </a:solidFill>
                        </a:rPr>
                        <a:t>WEEK 7</a:t>
                      </a:r>
                      <a:endParaRPr b="1" sz="1000">
                        <a:solidFill>
                          <a:srgbClr val="FFFFFF"/>
                        </a:solidFill>
                      </a:endParaRPr>
                    </a:p>
                  </a:txBody>
                  <a:tcPr marT="68575" marB="68575" marR="68575" marL="68575">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36853"/>
                    </a:solidFill>
                  </a:tcPr>
                </a:tc>
                <a:tc>
                  <a:txBody>
                    <a:bodyPr/>
                    <a:lstStyle/>
                    <a:p>
                      <a:pPr indent="0" lvl="0" marL="0" rtl="0" algn="ctr">
                        <a:spcBef>
                          <a:spcPts val="0"/>
                        </a:spcBef>
                        <a:spcAft>
                          <a:spcPts val="0"/>
                        </a:spcAft>
                        <a:buNone/>
                      </a:pPr>
                      <a:r>
                        <a:rPr b="1" lang="en-GB" sz="1000">
                          <a:solidFill>
                            <a:srgbClr val="FFFFFF"/>
                          </a:solidFill>
                        </a:rPr>
                        <a:t>WEEK 8</a:t>
                      </a:r>
                      <a:endParaRPr b="1" sz="1000">
                        <a:solidFill>
                          <a:srgbClr val="FFFFFF"/>
                        </a:solidFill>
                      </a:endParaRPr>
                    </a:p>
                  </a:txBody>
                  <a:tcPr marT="68575" marB="68575" marR="68575" marL="68575">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36853"/>
                    </a:solidFill>
                  </a:tcPr>
                </a:tc>
              </a:tr>
            </a:tbl>
          </a:graphicData>
        </a:graphic>
      </p:graphicFrame>
      <p:graphicFrame>
        <p:nvGraphicFramePr>
          <p:cNvPr id="87" name="Google Shape;87;p18"/>
          <p:cNvGraphicFramePr/>
          <p:nvPr/>
        </p:nvGraphicFramePr>
        <p:xfrm>
          <a:off x="595334" y="1171499"/>
          <a:ext cx="3000000" cy="3000000"/>
        </p:xfrm>
        <a:graphic>
          <a:graphicData uri="http://schemas.openxmlformats.org/drawingml/2006/table">
            <a:tbl>
              <a:tblPr>
                <a:noFill/>
                <a:tableStyleId>{37A2E053-07E2-4560-9BDE-82A63B5185E3}</a:tableStyleId>
              </a:tblPr>
              <a:tblGrid>
                <a:gridCol w="1004500"/>
                <a:gridCol w="1004500"/>
                <a:gridCol w="1004500"/>
                <a:gridCol w="1004500"/>
                <a:gridCol w="1004500"/>
                <a:gridCol w="1004500"/>
                <a:gridCol w="1004500"/>
                <a:gridCol w="1004500"/>
              </a:tblGrid>
              <a:tr h="285750">
                <a:tc gridSpan="4">
                  <a:txBody>
                    <a:bodyPr/>
                    <a:lstStyle/>
                    <a:p>
                      <a:pPr indent="0" lvl="0" marL="0" rtl="0" algn="ctr">
                        <a:spcBef>
                          <a:spcPts val="0"/>
                        </a:spcBef>
                        <a:spcAft>
                          <a:spcPts val="0"/>
                        </a:spcAft>
                        <a:buNone/>
                      </a:pPr>
                      <a:r>
                        <a:rPr b="1" lang="en-GB" sz="1100">
                          <a:solidFill>
                            <a:srgbClr val="FFFFFF"/>
                          </a:solidFill>
                        </a:rPr>
                        <a:t>October</a:t>
                      </a:r>
                      <a:endParaRPr b="1" sz="1100">
                        <a:solidFill>
                          <a:srgbClr val="FFFFFF"/>
                        </a:solidFill>
                      </a:endParaRPr>
                    </a:p>
                  </a:txBody>
                  <a:tcPr marT="68575" marB="68575" marR="68575" marL="68575">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4B3C"/>
                    </a:solidFill>
                  </a:tcPr>
                </a:tc>
                <a:tc hMerge="1"/>
                <a:tc hMerge="1"/>
                <a:tc hMerge="1"/>
                <a:tc gridSpan="4">
                  <a:txBody>
                    <a:bodyPr/>
                    <a:lstStyle/>
                    <a:p>
                      <a:pPr indent="0" lvl="0" marL="0" rtl="0" algn="ctr">
                        <a:spcBef>
                          <a:spcPts val="0"/>
                        </a:spcBef>
                        <a:spcAft>
                          <a:spcPts val="0"/>
                        </a:spcAft>
                        <a:buNone/>
                      </a:pPr>
                      <a:r>
                        <a:rPr b="1" lang="en-GB" sz="1100">
                          <a:solidFill>
                            <a:srgbClr val="FFFFFF"/>
                          </a:solidFill>
                        </a:rPr>
                        <a:t>November</a:t>
                      </a:r>
                      <a:endParaRPr b="1" sz="1100">
                        <a:solidFill>
                          <a:srgbClr val="FFFFFF"/>
                        </a:solidFill>
                      </a:endParaRPr>
                    </a:p>
                  </a:txBody>
                  <a:tcPr marT="68575" marB="68575" marR="68575" marL="68575">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4B3C"/>
                    </a:solidFill>
                  </a:tcPr>
                </a:tc>
                <a:tc hMerge="1"/>
                <a:tc hMerge="1"/>
                <a:tc hMerge="1"/>
              </a:tr>
            </a:tbl>
          </a:graphicData>
        </a:graphic>
      </p:graphicFrame>
      <p:grpSp>
        <p:nvGrpSpPr>
          <p:cNvPr id="88" name="Google Shape;88;p18"/>
          <p:cNvGrpSpPr/>
          <p:nvPr/>
        </p:nvGrpSpPr>
        <p:grpSpPr>
          <a:xfrm>
            <a:off x="8575392" y="2727025"/>
            <a:ext cx="621600" cy="622112"/>
            <a:chOff x="7017942" y="2597250"/>
            <a:chExt cx="621600" cy="622112"/>
          </a:xfrm>
        </p:grpSpPr>
        <p:sp>
          <p:nvSpPr>
            <p:cNvPr id="89" name="Google Shape;89;p18"/>
            <p:cNvSpPr/>
            <p:nvPr/>
          </p:nvSpPr>
          <p:spPr>
            <a:xfrm>
              <a:off x="7237992" y="2597250"/>
              <a:ext cx="181500" cy="246000"/>
            </a:xfrm>
            <a:prstGeom prst="diamond">
              <a:avLst/>
            </a:prstGeom>
            <a:solidFill>
              <a:srgbClr val="1B81C4"/>
            </a:solidFill>
            <a:ln cap="flat" cmpd="sng" w="12700">
              <a:solidFill>
                <a:srgbClr val="4285F4"/>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300"/>
                <a:buFont typeface="Poppins"/>
                <a:buNone/>
              </a:pPr>
              <a:r>
                <a:t/>
              </a:r>
              <a:endParaRPr b="0" i="0" sz="1300" u="none" cap="none" strike="noStrike">
                <a:solidFill>
                  <a:srgbClr val="FFFFFF"/>
                </a:solidFill>
                <a:latin typeface="Poppins"/>
                <a:ea typeface="Poppins"/>
                <a:cs typeface="Poppins"/>
                <a:sym typeface="Poppins"/>
              </a:endParaRPr>
            </a:p>
          </p:txBody>
        </p:sp>
        <p:sp>
          <p:nvSpPr>
            <p:cNvPr id="90" name="Google Shape;90;p18"/>
            <p:cNvSpPr txBox="1"/>
            <p:nvPr/>
          </p:nvSpPr>
          <p:spPr>
            <a:xfrm>
              <a:off x="7017942" y="2848562"/>
              <a:ext cx="621600" cy="370800"/>
            </a:xfrm>
            <a:prstGeom prst="rect">
              <a:avLst/>
            </a:prstGeom>
            <a:noFill/>
            <a:ln>
              <a:noFill/>
            </a:ln>
          </p:spPr>
          <p:txBody>
            <a:bodyPr anchorCtr="0" anchor="t" bIns="45700" lIns="45700" spcFirstLastPara="1" rIns="45700" wrap="square" tIns="45700">
              <a:noAutofit/>
            </a:bodyPr>
            <a:lstStyle/>
            <a:p>
              <a:pPr indent="0" lvl="0" marL="0" marR="0" rtl="0" algn="ctr">
                <a:lnSpc>
                  <a:spcPct val="100000"/>
                </a:lnSpc>
                <a:spcBef>
                  <a:spcPts val="0"/>
                </a:spcBef>
                <a:spcAft>
                  <a:spcPts val="0"/>
                </a:spcAft>
                <a:buClr>
                  <a:srgbClr val="021237"/>
                </a:buClr>
                <a:buSzPts val="800"/>
                <a:buFont typeface="Poppins"/>
                <a:buNone/>
              </a:pPr>
              <a:r>
                <a:rPr lang="en-GB" sz="600">
                  <a:solidFill>
                    <a:srgbClr val="021237"/>
                  </a:solidFill>
                </a:rPr>
                <a:t>Project</a:t>
              </a:r>
              <a:endParaRPr sz="600">
                <a:solidFill>
                  <a:srgbClr val="021237"/>
                </a:solidFill>
              </a:endParaRPr>
            </a:p>
            <a:p>
              <a:pPr indent="0" lvl="0" marL="0" marR="0" rtl="0" algn="ctr">
                <a:lnSpc>
                  <a:spcPct val="100000"/>
                </a:lnSpc>
                <a:spcBef>
                  <a:spcPts val="0"/>
                </a:spcBef>
                <a:spcAft>
                  <a:spcPts val="0"/>
                </a:spcAft>
                <a:buClr>
                  <a:srgbClr val="021237"/>
                </a:buClr>
                <a:buSzPts val="800"/>
                <a:buFont typeface="Poppins"/>
                <a:buNone/>
              </a:pPr>
              <a:r>
                <a:rPr lang="en-GB" sz="600">
                  <a:solidFill>
                    <a:srgbClr val="021237"/>
                  </a:solidFill>
                </a:rPr>
                <a:t>end</a:t>
              </a:r>
              <a:endParaRPr sz="600">
                <a:solidFill>
                  <a:srgbClr val="021237"/>
                </a:solidFill>
              </a:endParaRPr>
            </a:p>
          </p:txBody>
        </p:sp>
      </p:grpSp>
      <p:grpSp>
        <p:nvGrpSpPr>
          <p:cNvPr id="91" name="Google Shape;91;p18"/>
          <p:cNvGrpSpPr/>
          <p:nvPr/>
        </p:nvGrpSpPr>
        <p:grpSpPr>
          <a:xfrm>
            <a:off x="61109" y="2750788"/>
            <a:ext cx="493800" cy="574574"/>
            <a:chOff x="32534" y="2597838"/>
            <a:chExt cx="493800" cy="574574"/>
          </a:xfrm>
        </p:grpSpPr>
        <p:sp>
          <p:nvSpPr>
            <p:cNvPr id="92" name="Google Shape;92;p18"/>
            <p:cNvSpPr/>
            <p:nvPr/>
          </p:nvSpPr>
          <p:spPr>
            <a:xfrm>
              <a:off x="189434" y="2597838"/>
              <a:ext cx="180000" cy="244800"/>
            </a:xfrm>
            <a:prstGeom prst="diamond">
              <a:avLst/>
            </a:prstGeom>
            <a:solidFill>
              <a:srgbClr val="1B81C4"/>
            </a:solidFill>
            <a:ln cap="flat" cmpd="sng" w="12700">
              <a:solidFill>
                <a:srgbClr val="4385F5"/>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300"/>
                <a:buFont typeface="Poppins"/>
                <a:buNone/>
              </a:pPr>
              <a:r>
                <a:t/>
              </a:r>
              <a:endParaRPr b="0" i="0" sz="1300" u="none" cap="none" strike="noStrike">
                <a:solidFill>
                  <a:srgbClr val="FFFFFF"/>
                </a:solidFill>
                <a:latin typeface="Poppins"/>
                <a:ea typeface="Poppins"/>
                <a:cs typeface="Poppins"/>
                <a:sym typeface="Poppins"/>
              </a:endParaRPr>
            </a:p>
          </p:txBody>
        </p:sp>
        <p:sp>
          <p:nvSpPr>
            <p:cNvPr id="93" name="Google Shape;93;p18"/>
            <p:cNvSpPr txBox="1"/>
            <p:nvPr/>
          </p:nvSpPr>
          <p:spPr>
            <a:xfrm>
              <a:off x="32534" y="2895512"/>
              <a:ext cx="493800" cy="276900"/>
            </a:xfrm>
            <a:prstGeom prst="rect">
              <a:avLst/>
            </a:prstGeom>
            <a:noFill/>
            <a:ln>
              <a:noFill/>
            </a:ln>
          </p:spPr>
          <p:txBody>
            <a:bodyPr anchorCtr="0" anchor="t" bIns="45700" lIns="45700" spcFirstLastPara="1" rIns="45700" wrap="square" tIns="45700">
              <a:noAutofit/>
            </a:bodyPr>
            <a:lstStyle/>
            <a:p>
              <a:pPr indent="0" lvl="0" marL="0" marR="0" rtl="0" algn="ctr">
                <a:lnSpc>
                  <a:spcPct val="100000"/>
                </a:lnSpc>
                <a:spcBef>
                  <a:spcPts val="0"/>
                </a:spcBef>
                <a:spcAft>
                  <a:spcPts val="0"/>
                </a:spcAft>
                <a:buClr>
                  <a:srgbClr val="021237"/>
                </a:buClr>
                <a:buSzPts val="800"/>
                <a:buFont typeface="Poppins"/>
                <a:buNone/>
              </a:pPr>
              <a:r>
                <a:rPr lang="en-GB" sz="600">
                  <a:solidFill>
                    <a:srgbClr val="021237"/>
                  </a:solidFill>
                </a:rPr>
                <a:t>Project start</a:t>
              </a:r>
              <a:endParaRPr sz="600"/>
            </a:p>
          </p:txBody>
        </p:sp>
      </p:grpSp>
      <p:grpSp>
        <p:nvGrpSpPr>
          <p:cNvPr id="94" name="Google Shape;94;p18"/>
          <p:cNvGrpSpPr/>
          <p:nvPr/>
        </p:nvGrpSpPr>
        <p:grpSpPr>
          <a:xfrm>
            <a:off x="8195600" y="1762638"/>
            <a:ext cx="684600" cy="2941167"/>
            <a:chOff x="7887300" y="1243280"/>
            <a:chExt cx="684600" cy="3013800"/>
          </a:xfrm>
        </p:grpSpPr>
        <p:cxnSp>
          <p:nvCxnSpPr>
            <p:cNvPr id="95" name="Google Shape;95;p18"/>
            <p:cNvCxnSpPr>
              <a:endCxn id="96" idx="0"/>
            </p:cNvCxnSpPr>
            <p:nvPr/>
          </p:nvCxnSpPr>
          <p:spPr>
            <a:xfrm>
              <a:off x="8229600" y="1243280"/>
              <a:ext cx="0" cy="2862900"/>
            </a:xfrm>
            <a:prstGeom prst="straightConnector1">
              <a:avLst/>
            </a:prstGeom>
            <a:noFill/>
            <a:ln cap="flat" cmpd="sng" w="9525">
              <a:solidFill>
                <a:srgbClr val="980000"/>
              </a:solidFill>
              <a:prstDash val="dash"/>
              <a:round/>
              <a:headEnd len="med" w="med" type="none"/>
              <a:tailEnd len="med" w="med" type="none"/>
            </a:ln>
          </p:spPr>
        </p:cxnSp>
        <p:sp>
          <p:nvSpPr>
            <p:cNvPr id="96" name="Google Shape;96;p18"/>
            <p:cNvSpPr txBox="1"/>
            <p:nvPr/>
          </p:nvSpPr>
          <p:spPr>
            <a:xfrm>
              <a:off x="7887300" y="4106180"/>
              <a:ext cx="684600" cy="1509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None/>
              </a:pPr>
              <a:r>
                <a:rPr lang="en-GB" sz="700">
                  <a:solidFill>
                    <a:srgbClr val="980000"/>
                  </a:solidFill>
                </a:rPr>
                <a:t>We are here</a:t>
              </a:r>
              <a:endParaRPr sz="700">
                <a:solidFill>
                  <a:srgbClr val="980000"/>
                </a:solidFill>
              </a:endParaRPr>
            </a:p>
          </p:txBody>
        </p:sp>
      </p:grpSp>
      <p:sp>
        <p:nvSpPr>
          <p:cNvPr id="200" name="Timeline Bar 1"/>
          <p:cNvSpPr/>
          <p:nvPr/>
        </p:nvSpPr>
        <p:spPr>
          <a:xfrm>
            <a:off x="595355" y="1917657"/>
            <a:ext cx="2109450" cy="290399"/>
          </a:xfrm>
          <a:prstGeom prst="rect">
            <a:avLst/>
          </a:prstGeom>
          <a:solidFill>
            <a:srgbClr val="006AB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850">
                <a:solidFill>
                  <a:schemeClr val="lt1"/>
                </a:solidFill>
              </a:rPr>
              <a:t>SCC Enterprise Gemini Payload Research</a:t>
            </a:r>
            <a:endParaRPr sz="800">
              <a:solidFill>
                <a:schemeClr val="lt1"/>
              </a:solidFill>
            </a:endParaRPr>
          </a:p>
          <a:p>
            <a:pPr indent="0" lvl="0" marL="0" rtl="0" algn="ctr">
              <a:spcBef>
                <a:spcPts val="0"/>
              </a:spcBef>
              <a:spcAft>
                <a:spcPts val="0"/>
              </a:spcAft>
              <a:buNone/>
            </a:pPr>
            <a:r>
              <a:rPr lang="en-GB" sz="850">
                <a:solidFill>
                  <a:schemeClr val="lt1"/>
                </a:solidFill>
              </a:rPr>
              <a:t>&amp; Target IaC Git Repository Setup</a:t>
            </a:r>
            <a:endParaRPr sz="800">
              <a:solidFill>
                <a:schemeClr val="lt1"/>
              </a:solidFill>
            </a:endParaRPr>
          </a:p>
        </p:txBody>
      </p:sp>
      <p:sp>
        <p:nvSpPr>
          <p:cNvPr id="201" name="Timeline Bar 2"/>
          <p:cNvSpPr/>
          <p:nvPr/>
        </p:nvSpPr>
        <p:spPr>
          <a:xfrm>
            <a:off x="1398955" y="2263371"/>
            <a:ext cx="2209900" cy="290399"/>
          </a:xfrm>
          <a:prstGeom prst="rect">
            <a:avLst/>
          </a:prstGeom>
          <a:solidFill>
            <a:srgbClr val="006AB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850">
                <a:solidFill>
                  <a:schemeClr val="lt1"/>
                </a:solidFill>
              </a:rPr>
              <a:t>GCP Sandbox &amp; API Setup; Firestore</a:t>
            </a:r>
            <a:endParaRPr sz="800">
              <a:solidFill>
                <a:schemeClr val="lt1"/>
              </a:solidFill>
            </a:endParaRPr>
          </a:p>
          <a:p>
            <a:pPr indent="0" lvl="0" marL="0" rtl="0" algn="ctr">
              <a:spcBef>
                <a:spcPts val="0"/>
              </a:spcBef>
              <a:spcAft>
                <a:spcPts val="0"/>
              </a:spcAft>
              <a:buNone/>
            </a:pPr>
            <a:r>
              <a:rPr lang="en-GB" sz="850">
                <a:solidFill>
                  <a:schemeClr val="lt1"/>
                </a:solidFill>
              </a:rPr>
              <a:t>&amp; BigQuery 1:1 State Schema Design</a:t>
            </a:r>
            <a:endParaRPr sz="800">
              <a:solidFill>
                <a:schemeClr val="lt1"/>
              </a:solidFill>
            </a:endParaRPr>
          </a:p>
        </p:txBody>
      </p:sp>
      <p:sp>
        <p:nvSpPr>
          <p:cNvPr id="202" name="Timeline Bar 3"/>
          <p:cNvSpPr/>
          <p:nvPr/>
        </p:nvSpPr>
        <p:spPr>
          <a:xfrm>
            <a:off x="2403455" y="2609085"/>
            <a:ext cx="2310350" cy="290399"/>
          </a:xfrm>
          <a:prstGeom prst="rect">
            <a:avLst/>
          </a:prstGeom>
          <a:solidFill>
            <a:srgbClr val="006AB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850">
                <a:solidFill>
                  <a:schemeClr val="lt1"/>
                </a:solidFill>
              </a:rPr>
              <a:t>SCC Continuous JSON Export &amp; Pub/Sub</a:t>
            </a:r>
            <a:endParaRPr sz="800">
              <a:solidFill>
                <a:schemeClr val="lt1"/>
              </a:solidFill>
            </a:endParaRPr>
          </a:p>
          <a:p>
            <a:pPr indent="0" lvl="0" marL="0" rtl="0" algn="ctr">
              <a:spcBef>
                <a:spcPts val="0"/>
              </a:spcBef>
              <a:spcAft>
                <a:spcPts val="0"/>
              </a:spcAft>
              <a:buNone/>
            </a:pPr>
            <a:r>
              <a:rPr lang="en-GB" sz="850">
                <a:solidFill>
                  <a:schemeClr val="lt1"/>
                </a:solidFill>
              </a:rPr>
              <a:t>Fan-Out (BigQuery + Triage Function)</a:t>
            </a:r>
            <a:endParaRPr sz="800">
              <a:solidFill>
                <a:schemeClr val="lt1"/>
              </a:solidFill>
            </a:endParaRPr>
          </a:p>
        </p:txBody>
      </p:sp>
      <p:sp>
        <p:nvSpPr>
          <p:cNvPr id="203" name="Timeline Bar 4"/>
          <p:cNvSpPr/>
          <p:nvPr/>
        </p:nvSpPr>
        <p:spPr>
          <a:xfrm>
            <a:off x="3106605" y="2954799"/>
            <a:ext cx="2511250" cy="290399"/>
          </a:xfrm>
          <a:prstGeom prst="rect">
            <a:avLst/>
          </a:prstGeom>
          <a:solidFill>
            <a:srgbClr val="006AB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850">
                <a:solidFill>
                  <a:schemeClr val="lt1"/>
                </a:solidFill>
              </a:rPr>
              <a:t>Cloud Function Triage Engine, O(1) State</a:t>
            </a:r>
            <a:endParaRPr sz="800">
              <a:solidFill>
                <a:schemeClr val="lt1"/>
              </a:solidFill>
            </a:endParaRPr>
          </a:p>
          <a:p>
            <a:pPr indent="0" lvl="0" marL="0" rtl="0" algn="ctr">
              <a:spcBef>
                <a:spcPts val="0"/>
              </a:spcBef>
              <a:spcAft>
                <a:spcPts val="0"/>
              </a:spcAft>
              <a:buNone/>
            </a:pPr>
            <a:r>
              <a:rPr lang="en-GB" sz="850">
                <a:solidFill>
                  <a:schemeClr val="lt1"/>
                </a:solidFill>
              </a:rPr>
              <a:t>Deduplication &amp; Google Chat UI Cards</a:t>
            </a:r>
            <a:endParaRPr sz="800">
              <a:solidFill>
                <a:schemeClr val="lt1"/>
              </a:solidFill>
            </a:endParaRPr>
          </a:p>
        </p:txBody>
      </p:sp>
      <p:sp>
        <p:nvSpPr>
          <p:cNvPr id="204" name="Timeline Bar 5"/>
          <p:cNvSpPr/>
          <p:nvPr/>
        </p:nvSpPr>
        <p:spPr>
          <a:xfrm>
            <a:off x="4111105" y="3300513"/>
            <a:ext cx="2712150" cy="290399"/>
          </a:xfrm>
          <a:prstGeom prst="rect">
            <a:avLst/>
          </a:prstGeom>
          <a:solidFill>
            <a:srgbClr val="006AB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850">
                <a:solidFill>
                  <a:schemeClr val="lt1"/>
                </a:solidFill>
              </a:rPr>
              <a:t>Cloud Run Webhook Receiver &amp; AI Agent</a:t>
            </a:r>
            <a:endParaRPr sz="800">
              <a:solidFill>
                <a:schemeClr val="lt1"/>
              </a:solidFill>
            </a:endParaRPr>
          </a:p>
          <a:p>
            <a:pPr indent="0" lvl="0" marL="0" rtl="0" algn="ctr">
              <a:spcBef>
                <a:spcPts val="0"/>
              </a:spcBef>
              <a:spcAft>
                <a:spcPts val="0"/>
              </a:spcAft>
              <a:buNone/>
            </a:pPr>
            <a:r>
              <a:rPr lang="en-GB" sz="850">
                <a:solidFill>
                  <a:schemeClr val="lt1"/>
                </a:solidFill>
              </a:rPr>
              <a:t>for Recursive Terraform (HCL) Generation</a:t>
            </a:r>
            <a:endParaRPr sz="800">
              <a:solidFill>
                <a:schemeClr val="lt1"/>
              </a:solidFill>
            </a:endParaRPr>
          </a:p>
        </p:txBody>
      </p:sp>
      <p:sp>
        <p:nvSpPr>
          <p:cNvPr id="205" name="Timeline Bar 6"/>
          <p:cNvSpPr/>
          <p:nvPr/>
        </p:nvSpPr>
        <p:spPr>
          <a:xfrm>
            <a:off x="5115605" y="3646227"/>
            <a:ext cx="2511250" cy="290399"/>
          </a:xfrm>
          <a:prstGeom prst="rect">
            <a:avLst/>
          </a:prstGeom>
          <a:solidFill>
            <a:srgbClr val="006AB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850">
                <a:solidFill>
                  <a:schemeClr val="lt1"/>
                </a:solidFill>
              </a:rPr>
              <a:t>Automated GitOps Pull Request Creation</a:t>
            </a:r>
            <a:endParaRPr sz="800">
              <a:solidFill>
                <a:schemeClr val="lt1"/>
              </a:solidFill>
            </a:endParaRPr>
          </a:p>
          <a:p>
            <a:pPr indent="0" lvl="0" marL="0" rtl="0" algn="ctr">
              <a:spcBef>
                <a:spcPts val="0"/>
              </a:spcBef>
              <a:spcAft>
                <a:spcPts val="0"/>
              </a:spcAft>
              <a:buNone/>
            </a:pPr>
            <a:r>
              <a:rPr lang="en-GB" sz="850">
                <a:solidFill>
                  <a:schemeClr val="lt1"/>
                </a:solidFill>
              </a:rPr>
              <a:t>&amp; Dual-DB State Sync (PR_OPEN / Chat)</a:t>
            </a:r>
            <a:endParaRPr sz="800">
              <a:solidFill>
                <a:schemeClr val="lt1"/>
              </a:solidFill>
            </a:endParaRPr>
          </a:p>
        </p:txBody>
      </p:sp>
      <p:sp>
        <p:nvSpPr>
          <p:cNvPr id="206" name="Timeline Bar 7"/>
          <p:cNvSpPr/>
          <p:nvPr/>
        </p:nvSpPr>
        <p:spPr>
          <a:xfrm>
            <a:off x="6120105" y="3991941"/>
            <a:ext cx="2511250" cy="290399"/>
          </a:xfrm>
          <a:prstGeom prst="rect">
            <a:avLst/>
          </a:prstGeom>
          <a:solidFill>
            <a:srgbClr val="006AB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850">
                <a:solidFill>
                  <a:schemeClr val="lt1"/>
                </a:solidFill>
              </a:rPr>
              <a:t>BigQuery Canvas Analytics, E2E Breach</a:t>
            </a:r>
            <a:endParaRPr sz="800">
              <a:solidFill>
                <a:schemeClr val="lt1"/>
              </a:solidFill>
            </a:endParaRPr>
          </a:p>
          <a:p>
            <a:pPr indent="0" lvl="0" marL="0" rtl="0" algn="ctr">
              <a:spcBef>
                <a:spcPts val="0"/>
              </a:spcBef>
              <a:spcAft>
                <a:spcPts val="0"/>
              </a:spcAft>
              <a:buNone/>
            </a:pPr>
            <a:r>
              <a:rPr lang="en-GB" sz="850">
                <a:solidFill>
                  <a:schemeClr val="lt1"/>
                </a:solidFill>
              </a:rPr>
              <a:t>Simulations &amp; Live Demo Hardening</a:t>
            </a:r>
            <a:endParaRPr sz="800">
              <a:solidFill>
                <a:schemeClr val="lt1"/>
              </a:solidFill>
            </a:endParaRPr>
          </a:p>
        </p:txBody>
      </p:sp>
    </p:spTree>
  </p:cSld>
  <p:clrMapOvr>
    <a:masterClrMapping/>
  </p:clrMapOvr>
</p:sld>
</file>

<file path=ppt/slides/slide4.xml><?xml version="1.0" encoding="utf-8"?>
<p:sld xmlns:a="http://schemas.openxmlformats.org/drawingml/2006/main" xmlns:p="http://schemas.openxmlformats.org/presentationml/2006/main">
  <p:cSld>
    <p:spTree>
      <p:nvGrpSpPr>
        <p:cNvPr id="83" name="Shape 83"/>
        <p:cNvGrpSpPr/>
        <p:nvPr/>
      </p:nvGrpSpPr>
      <p:grpSpPr>
        <a:xfrm>
          <a:off x="0" y="0"/>
          <a:ext cx="0" cy="0"/>
          <a:chOff x="0" y="0"/>
          <a:chExt cx="0" cy="0"/>
        </a:xfrm>
      </p:grpSpPr>
      <p:sp>
        <p:nvSpPr>
          <p:cNvPr id="84" name="Google Shape;84;p18"/>
          <p:cNvSpPr txBox="1"/>
          <p:nvPr>
            <p:ph type="title"/>
          </p:nvPr>
        </p:nvSpPr>
        <p:spPr>
          <a:xfrm>
            <a:off x="313200" y="216000"/>
            <a:ext cx="8521200" cy="6690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GB" sz="2800"/>
              <a:t>Project Timeline (Skills Showcase Overview)</a:t>
            </a:r>
            <a:endParaRPr/>
          </a:p>
        </p:txBody>
      </p:sp>
      <p:graphicFrame>
        <p:nvGraphicFramePr>
          <p:cNvPr id="85" name="Google Shape;85;p18"/>
          <p:cNvGraphicFramePr/>
          <p:nvPr/>
        </p:nvGraphicFramePr>
        <p:xfrm>
          <a:off x="595355" y="1811862"/>
          <a:ext cx="3000000" cy="3000000"/>
        </p:xfrm>
        <a:graphic>
          <a:graphicData uri="http://schemas.openxmlformats.org/drawingml/2006/table">
            <a:tbl>
              <a:tblPr>
                <a:noFill/>
                <a:tableStyleId>{37A2E053-07E2-4560-9BDE-82A63B5185E3}</a:tableStyleId>
              </a:tblPr>
              <a:tblGrid>
                <a:gridCol w="1004500"/>
                <a:gridCol w="1004500"/>
                <a:gridCol w="1004500"/>
                <a:gridCol w="1004500"/>
                <a:gridCol w="1004500"/>
                <a:gridCol w="1004500"/>
                <a:gridCol w="1004500"/>
                <a:gridCol w="1004500"/>
              </a:tblGrid>
              <a:tr h="2621075">
                <a:tc>
                  <a:txBody>
                    <a:bodyPr/>
                    <a:lstStyle/>
                    <a:p>
                      <a:pPr indent="0" lvl="0" marL="0" rtl="0" algn="ctr">
                        <a:spcBef>
                          <a:spcPts val="0"/>
                        </a:spcBef>
                        <a:spcAft>
                          <a:spcPts val="0"/>
                        </a:spcAft>
                        <a:buNone/>
                      </a:pPr>
                      <a:r>
                        <a:t/>
                      </a:r>
                      <a:endParaRPr b="1" sz="1100">
                        <a:solidFill>
                          <a:srgbClr val="FFFFFF"/>
                        </a:solidFill>
                      </a:endParaRPr>
                    </a:p>
                  </a:txBody>
                  <a:tcPr marT="68575" marB="68575" marR="68575" marL="68575">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EEF1F2"/>
                    </a:solidFill>
                  </a:tcPr>
                </a:tc>
                <a:tc>
                  <a:txBody>
                    <a:bodyPr/>
                    <a:lstStyle/>
                    <a:p>
                      <a:pPr indent="0" lvl="0" marL="0" rtl="0" algn="l">
                        <a:spcBef>
                          <a:spcPts val="0"/>
                        </a:spcBef>
                        <a:spcAft>
                          <a:spcPts val="0"/>
                        </a:spcAft>
                        <a:buNone/>
                      </a:pPr>
                      <a:r>
                        <a:t/>
                      </a:r>
                      <a:endParaRPr b="1" sz="1100">
                        <a:solidFill>
                          <a:srgbClr val="FFFFFF"/>
                        </a:solidFill>
                      </a:endParaRPr>
                    </a:p>
                  </a:txBody>
                  <a:tcPr marT="68575" marB="68575" marR="68575" marL="68575">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EEF1F2"/>
                    </a:solidFill>
                  </a:tcPr>
                </a:tc>
                <a:tc>
                  <a:txBody>
                    <a:bodyPr/>
                    <a:lstStyle/>
                    <a:p>
                      <a:pPr indent="0" lvl="0" marL="0" rtl="0" algn="l">
                        <a:spcBef>
                          <a:spcPts val="0"/>
                        </a:spcBef>
                        <a:spcAft>
                          <a:spcPts val="0"/>
                        </a:spcAft>
                        <a:buNone/>
                      </a:pPr>
                      <a:r>
                        <a:t/>
                      </a:r>
                      <a:endParaRPr b="1" sz="1100">
                        <a:solidFill>
                          <a:srgbClr val="FFFFFF"/>
                        </a:solidFill>
                      </a:endParaRPr>
                    </a:p>
                  </a:txBody>
                  <a:tcPr marT="68575" marB="68575" marR="68575" marL="68575">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EEF1F2"/>
                    </a:solidFill>
                  </a:tcPr>
                </a:tc>
                <a:tc>
                  <a:txBody>
                    <a:bodyPr/>
                    <a:lstStyle/>
                    <a:p>
                      <a:pPr indent="0" lvl="0" marL="0" rtl="0" algn="l">
                        <a:spcBef>
                          <a:spcPts val="0"/>
                        </a:spcBef>
                        <a:spcAft>
                          <a:spcPts val="0"/>
                        </a:spcAft>
                        <a:buNone/>
                      </a:pPr>
                      <a:r>
                        <a:t/>
                      </a:r>
                      <a:endParaRPr b="1" sz="1100">
                        <a:solidFill>
                          <a:srgbClr val="FFFFFF"/>
                        </a:solidFill>
                      </a:endParaRPr>
                    </a:p>
                  </a:txBody>
                  <a:tcPr marT="68575" marB="68575" marR="68575" marL="68575">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EEF1F2"/>
                    </a:solidFill>
                  </a:tcPr>
                </a:tc>
                <a:tc>
                  <a:txBody>
                    <a:bodyPr/>
                    <a:lstStyle/>
                    <a:p>
                      <a:pPr indent="0" lvl="0" marL="0" rtl="0" algn="l">
                        <a:spcBef>
                          <a:spcPts val="0"/>
                        </a:spcBef>
                        <a:spcAft>
                          <a:spcPts val="0"/>
                        </a:spcAft>
                        <a:buNone/>
                      </a:pPr>
                      <a:r>
                        <a:t/>
                      </a:r>
                      <a:endParaRPr b="1" sz="1100">
                        <a:solidFill>
                          <a:srgbClr val="FFFFFF"/>
                        </a:solidFill>
                      </a:endParaRPr>
                    </a:p>
                  </a:txBody>
                  <a:tcPr marT="68575" marB="68575" marR="68575" marL="68575">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EEF1F2"/>
                    </a:solidFill>
                  </a:tcPr>
                </a:tc>
                <a:tc>
                  <a:txBody>
                    <a:bodyPr/>
                    <a:lstStyle/>
                    <a:p>
                      <a:pPr indent="0" lvl="0" marL="0" rtl="0" algn="l">
                        <a:spcBef>
                          <a:spcPts val="0"/>
                        </a:spcBef>
                        <a:spcAft>
                          <a:spcPts val="0"/>
                        </a:spcAft>
                        <a:buNone/>
                      </a:pPr>
                      <a:r>
                        <a:t/>
                      </a:r>
                      <a:endParaRPr b="1" sz="1100">
                        <a:solidFill>
                          <a:srgbClr val="FFFFFF"/>
                        </a:solidFill>
                      </a:endParaRPr>
                    </a:p>
                  </a:txBody>
                  <a:tcPr marT="68575" marB="68575" marR="68575" marL="68575">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EEF1F2"/>
                    </a:solidFill>
                  </a:tcPr>
                </a:tc>
                <a:tc>
                  <a:txBody>
                    <a:bodyPr/>
                    <a:lstStyle/>
                    <a:p>
                      <a:pPr indent="0" lvl="0" marL="0" rtl="0" algn="l">
                        <a:spcBef>
                          <a:spcPts val="0"/>
                        </a:spcBef>
                        <a:spcAft>
                          <a:spcPts val="0"/>
                        </a:spcAft>
                        <a:buNone/>
                      </a:pPr>
                      <a:r>
                        <a:t/>
                      </a:r>
                      <a:endParaRPr b="1" sz="1100">
                        <a:solidFill>
                          <a:srgbClr val="FFFFFF"/>
                        </a:solidFill>
                      </a:endParaRPr>
                    </a:p>
                  </a:txBody>
                  <a:tcPr marT="68575" marB="68575" marR="68575" marL="68575">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EEF1F2"/>
                    </a:solidFill>
                  </a:tcPr>
                </a:tc>
                <a:tc>
                  <a:txBody>
                    <a:bodyPr/>
                    <a:lstStyle/>
                    <a:p>
                      <a:pPr indent="0" lvl="0" marL="0" rtl="0" algn="l">
                        <a:spcBef>
                          <a:spcPts val="0"/>
                        </a:spcBef>
                        <a:spcAft>
                          <a:spcPts val="0"/>
                        </a:spcAft>
                        <a:buNone/>
                      </a:pPr>
                      <a:r>
                        <a:t/>
                      </a:r>
                      <a:endParaRPr b="1" sz="1100">
                        <a:solidFill>
                          <a:srgbClr val="FFFFFF"/>
                        </a:solidFill>
                      </a:endParaRPr>
                    </a:p>
                  </a:txBody>
                  <a:tcPr marT="68575" marB="68575" marR="68575" marL="68575">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EEF1F2"/>
                    </a:solidFill>
                  </a:tcPr>
                </a:tc>
              </a:tr>
            </a:tbl>
          </a:graphicData>
        </a:graphic>
      </p:graphicFrame>
      <p:graphicFrame>
        <p:nvGraphicFramePr>
          <p:cNvPr id="86" name="Google Shape;86;p18"/>
          <p:cNvGraphicFramePr/>
          <p:nvPr/>
        </p:nvGraphicFramePr>
        <p:xfrm>
          <a:off x="591230" y="1491687"/>
          <a:ext cx="3000000" cy="3000000"/>
        </p:xfrm>
        <a:graphic>
          <a:graphicData uri="http://schemas.openxmlformats.org/drawingml/2006/table">
            <a:tbl>
              <a:tblPr>
                <a:noFill/>
                <a:tableStyleId>{37A2E053-07E2-4560-9BDE-82A63B5185E3}</a:tableStyleId>
              </a:tblPr>
              <a:tblGrid>
                <a:gridCol w="1004500"/>
                <a:gridCol w="1004500"/>
                <a:gridCol w="1004500"/>
                <a:gridCol w="1004500"/>
                <a:gridCol w="1004500"/>
                <a:gridCol w="1004500"/>
                <a:gridCol w="1004500"/>
                <a:gridCol w="1004500"/>
              </a:tblGrid>
              <a:tr h="285750">
                <a:tc>
                  <a:txBody>
                    <a:bodyPr/>
                    <a:lstStyle/>
                    <a:p>
                      <a:pPr indent="0" lvl="0" marL="0" rtl="0" algn="ctr">
                        <a:spcBef>
                          <a:spcPts val="0"/>
                        </a:spcBef>
                        <a:spcAft>
                          <a:spcPts val="0"/>
                        </a:spcAft>
                        <a:buNone/>
                      </a:pPr>
                      <a:r>
                        <a:rPr b="1" lang="en-GB" sz="1000">
                          <a:solidFill>
                            <a:srgbClr val="FFFFFF"/>
                          </a:solidFill>
                        </a:rPr>
                        <a:t>WEEK 1</a:t>
                      </a:r>
                      <a:endParaRPr b="1" sz="1000">
                        <a:solidFill>
                          <a:srgbClr val="FFFFFF"/>
                        </a:solidFill>
                      </a:endParaRPr>
                    </a:p>
                  </a:txBody>
                  <a:tcPr marT="68575" marB="68575" marR="68575" marL="68575">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36853"/>
                    </a:solidFill>
                  </a:tcPr>
                </a:tc>
                <a:tc>
                  <a:txBody>
                    <a:bodyPr/>
                    <a:lstStyle/>
                    <a:p>
                      <a:pPr indent="0" lvl="0" marL="0" rtl="0" algn="ctr">
                        <a:spcBef>
                          <a:spcPts val="0"/>
                        </a:spcBef>
                        <a:spcAft>
                          <a:spcPts val="0"/>
                        </a:spcAft>
                        <a:buNone/>
                      </a:pPr>
                      <a:r>
                        <a:rPr b="1" lang="en-GB" sz="1000">
                          <a:solidFill>
                            <a:srgbClr val="FFFFFF"/>
                          </a:solidFill>
                        </a:rPr>
                        <a:t>WEEK 2</a:t>
                      </a:r>
                      <a:endParaRPr b="1" sz="1000">
                        <a:solidFill>
                          <a:srgbClr val="FFFFFF"/>
                        </a:solidFill>
                      </a:endParaRPr>
                    </a:p>
                  </a:txBody>
                  <a:tcPr marT="68575" marB="68575" marR="68575" marL="68575">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36853"/>
                    </a:solidFill>
                  </a:tcPr>
                </a:tc>
                <a:tc>
                  <a:txBody>
                    <a:bodyPr/>
                    <a:lstStyle/>
                    <a:p>
                      <a:pPr indent="0" lvl="0" marL="0" rtl="0" algn="ctr">
                        <a:spcBef>
                          <a:spcPts val="0"/>
                        </a:spcBef>
                        <a:spcAft>
                          <a:spcPts val="0"/>
                        </a:spcAft>
                        <a:buNone/>
                      </a:pPr>
                      <a:r>
                        <a:rPr b="1" lang="en-GB" sz="1000">
                          <a:solidFill>
                            <a:srgbClr val="FFFFFF"/>
                          </a:solidFill>
                        </a:rPr>
                        <a:t>WEEK 3</a:t>
                      </a:r>
                      <a:endParaRPr b="1" sz="1000">
                        <a:solidFill>
                          <a:srgbClr val="FFFFFF"/>
                        </a:solidFill>
                      </a:endParaRPr>
                    </a:p>
                  </a:txBody>
                  <a:tcPr marT="68575" marB="68575" marR="68575" marL="68575">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36853"/>
                    </a:solidFill>
                  </a:tcPr>
                </a:tc>
                <a:tc>
                  <a:txBody>
                    <a:bodyPr/>
                    <a:lstStyle/>
                    <a:p>
                      <a:pPr indent="0" lvl="0" marL="0" rtl="0" algn="ctr">
                        <a:spcBef>
                          <a:spcPts val="0"/>
                        </a:spcBef>
                        <a:spcAft>
                          <a:spcPts val="0"/>
                        </a:spcAft>
                        <a:buNone/>
                      </a:pPr>
                      <a:r>
                        <a:rPr b="1" lang="en-GB" sz="1000">
                          <a:solidFill>
                            <a:srgbClr val="FFFFFF"/>
                          </a:solidFill>
                        </a:rPr>
                        <a:t>WEEK 4</a:t>
                      </a:r>
                      <a:endParaRPr b="1" sz="1000">
                        <a:solidFill>
                          <a:srgbClr val="FFFFFF"/>
                        </a:solidFill>
                      </a:endParaRPr>
                    </a:p>
                  </a:txBody>
                  <a:tcPr marT="68575" marB="68575" marR="68575" marL="68575">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36853"/>
                    </a:solidFill>
                  </a:tcPr>
                </a:tc>
                <a:tc>
                  <a:txBody>
                    <a:bodyPr/>
                    <a:lstStyle/>
                    <a:p>
                      <a:pPr indent="0" lvl="0" marL="0" rtl="0" algn="ctr">
                        <a:spcBef>
                          <a:spcPts val="0"/>
                        </a:spcBef>
                        <a:spcAft>
                          <a:spcPts val="0"/>
                        </a:spcAft>
                        <a:buNone/>
                      </a:pPr>
                      <a:r>
                        <a:rPr b="1" lang="en-GB" sz="1000">
                          <a:solidFill>
                            <a:srgbClr val="FFFFFF"/>
                          </a:solidFill>
                        </a:rPr>
                        <a:t>WEEK 5</a:t>
                      </a:r>
                      <a:endParaRPr b="1" sz="1000">
                        <a:solidFill>
                          <a:srgbClr val="FFFFFF"/>
                        </a:solidFill>
                      </a:endParaRPr>
                    </a:p>
                  </a:txBody>
                  <a:tcPr marT="68575" marB="68575" marR="68575" marL="68575">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36853"/>
                    </a:solidFill>
                  </a:tcPr>
                </a:tc>
                <a:tc>
                  <a:txBody>
                    <a:bodyPr/>
                    <a:lstStyle/>
                    <a:p>
                      <a:pPr indent="0" lvl="0" marL="0" rtl="0" algn="ctr">
                        <a:spcBef>
                          <a:spcPts val="0"/>
                        </a:spcBef>
                        <a:spcAft>
                          <a:spcPts val="0"/>
                        </a:spcAft>
                        <a:buNone/>
                      </a:pPr>
                      <a:r>
                        <a:rPr b="1" lang="en-GB" sz="1000">
                          <a:solidFill>
                            <a:srgbClr val="FFFFFF"/>
                          </a:solidFill>
                        </a:rPr>
                        <a:t>WEEK 6</a:t>
                      </a:r>
                      <a:endParaRPr b="1" sz="1000">
                        <a:solidFill>
                          <a:srgbClr val="FFFFFF"/>
                        </a:solidFill>
                      </a:endParaRPr>
                    </a:p>
                  </a:txBody>
                  <a:tcPr marT="68575" marB="68575" marR="68575" marL="68575">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36853"/>
                    </a:solidFill>
                  </a:tcPr>
                </a:tc>
                <a:tc>
                  <a:txBody>
                    <a:bodyPr/>
                    <a:lstStyle/>
                    <a:p>
                      <a:pPr indent="0" lvl="0" marL="0" rtl="0" algn="ctr">
                        <a:spcBef>
                          <a:spcPts val="0"/>
                        </a:spcBef>
                        <a:spcAft>
                          <a:spcPts val="0"/>
                        </a:spcAft>
                        <a:buNone/>
                      </a:pPr>
                      <a:r>
                        <a:rPr b="1" lang="en-GB" sz="1000">
                          <a:solidFill>
                            <a:srgbClr val="FFFFFF"/>
                          </a:solidFill>
                        </a:rPr>
                        <a:t>WEEK 7</a:t>
                      </a:r>
                      <a:endParaRPr b="1" sz="1000">
                        <a:solidFill>
                          <a:srgbClr val="FFFFFF"/>
                        </a:solidFill>
                      </a:endParaRPr>
                    </a:p>
                  </a:txBody>
                  <a:tcPr marT="68575" marB="68575" marR="68575" marL="68575">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36853"/>
                    </a:solidFill>
                  </a:tcPr>
                </a:tc>
                <a:tc>
                  <a:txBody>
                    <a:bodyPr/>
                    <a:lstStyle/>
                    <a:p>
                      <a:pPr indent="0" lvl="0" marL="0" rtl="0" algn="ctr">
                        <a:spcBef>
                          <a:spcPts val="0"/>
                        </a:spcBef>
                        <a:spcAft>
                          <a:spcPts val="0"/>
                        </a:spcAft>
                        <a:buNone/>
                      </a:pPr>
                      <a:r>
                        <a:rPr b="1" lang="en-GB" sz="1000">
                          <a:solidFill>
                            <a:srgbClr val="FFFFFF"/>
                          </a:solidFill>
                        </a:rPr>
                        <a:t>WEEK 8</a:t>
                      </a:r>
                      <a:endParaRPr b="1" sz="1000">
                        <a:solidFill>
                          <a:srgbClr val="FFFFFF"/>
                        </a:solidFill>
                      </a:endParaRPr>
                    </a:p>
                  </a:txBody>
                  <a:tcPr marT="68575" marB="68575" marR="68575" marL="68575">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36853"/>
                    </a:solidFill>
                  </a:tcPr>
                </a:tc>
              </a:tr>
            </a:tbl>
          </a:graphicData>
        </a:graphic>
      </p:graphicFrame>
      <p:graphicFrame>
        <p:nvGraphicFramePr>
          <p:cNvPr id="87" name="Google Shape;87;p18"/>
          <p:cNvGraphicFramePr/>
          <p:nvPr/>
        </p:nvGraphicFramePr>
        <p:xfrm>
          <a:off x="595334" y="1171499"/>
          <a:ext cx="3000000" cy="3000000"/>
        </p:xfrm>
        <a:graphic>
          <a:graphicData uri="http://schemas.openxmlformats.org/drawingml/2006/table">
            <a:tbl>
              <a:tblPr>
                <a:noFill/>
                <a:tableStyleId>{37A2E053-07E2-4560-9BDE-82A63B5185E3}</a:tableStyleId>
              </a:tblPr>
              <a:tblGrid>
                <a:gridCol w="1004500"/>
                <a:gridCol w="1004500"/>
                <a:gridCol w="1004500"/>
                <a:gridCol w="1004500"/>
                <a:gridCol w="1004500"/>
                <a:gridCol w="1004500"/>
                <a:gridCol w="1004500"/>
                <a:gridCol w="1004500"/>
              </a:tblGrid>
              <a:tr h="285750">
                <a:tc gridSpan="4">
                  <a:txBody>
                    <a:bodyPr/>
                    <a:lstStyle/>
                    <a:p>
                      <a:pPr indent="0" lvl="0" marL="0" rtl="0" algn="ctr">
                        <a:spcBef>
                          <a:spcPts val="0"/>
                        </a:spcBef>
                        <a:spcAft>
                          <a:spcPts val="0"/>
                        </a:spcAft>
                        <a:buNone/>
                      </a:pPr>
                      <a:r>
                        <a:rPr b="1" lang="en-GB" sz="1100">
                          <a:solidFill>
                            <a:srgbClr val="FFFFFF"/>
                          </a:solidFill>
                        </a:rPr>
                        <a:t>October</a:t>
                      </a:r>
                      <a:endParaRPr b="1" sz="1100">
                        <a:solidFill>
                          <a:srgbClr val="FFFFFF"/>
                        </a:solidFill>
                      </a:endParaRPr>
                    </a:p>
                  </a:txBody>
                  <a:tcPr marT="68575" marB="68575" marR="68575" marL="68575">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4B3C"/>
                    </a:solidFill>
                  </a:tcPr>
                </a:tc>
                <a:tc hMerge="1"/>
                <a:tc hMerge="1"/>
                <a:tc hMerge="1"/>
                <a:tc gridSpan="4">
                  <a:txBody>
                    <a:bodyPr/>
                    <a:lstStyle/>
                    <a:p>
                      <a:pPr indent="0" lvl="0" marL="0" rtl="0" algn="ctr">
                        <a:spcBef>
                          <a:spcPts val="0"/>
                        </a:spcBef>
                        <a:spcAft>
                          <a:spcPts val="0"/>
                        </a:spcAft>
                        <a:buNone/>
                      </a:pPr>
                      <a:r>
                        <a:rPr b="1" lang="en-GB" sz="1100">
                          <a:solidFill>
                            <a:srgbClr val="FFFFFF"/>
                          </a:solidFill>
                        </a:rPr>
                        <a:t>November</a:t>
                      </a:r>
                      <a:endParaRPr b="1" sz="1100">
                        <a:solidFill>
                          <a:srgbClr val="FFFFFF"/>
                        </a:solidFill>
                      </a:endParaRPr>
                    </a:p>
                  </a:txBody>
                  <a:tcPr marT="68575" marB="68575" marR="68575" marL="68575">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4B3C"/>
                    </a:solidFill>
                  </a:tcPr>
                </a:tc>
                <a:tc hMerge="1"/>
                <a:tc hMerge="1"/>
                <a:tc hMerge="1"/>
              </a:tr>
            </a:tbl>
          </a:graphicData>
        </a:graphic>
      </p:graphicFrame>
      <p:grpSp>
        <p:nvGrpSpPr>
          <p:cNvPr id="88" name="Google Shape;88;p18"/>
          <p:cNvGrpSpPr/>
          <p:nvPr/>
        </p:nvGrpSpPr>
        <p:grpSpPr>
          <a:xfrm>
            <a:off x="8575392" y="2727025"/>
            <a:ext cx="621600" cy="622112"/>
            <a:chOff x="7017942" y="2597250"/>
            <a:chExt cx="621600" cy="622112"/>
          </a:xfrm>
        </p:grpSpPr>
        <p:sp>
          <p:nvSpPr>
            <p:cNvPr id="89" name="Google Shape;89;p18"/>
            <p:cNvSpPr/>
            <p:nvPr/>
          </p:nvSpPr>
          <p:spPr>
            <a:xfrm>
              <a:off x="7237992" y="2597250"/>
              <a:ext cx="181500" cy="246000"/>
            </a:xfrm>
            <a:prstGeom prst="diamond">
              <a:avLst/>
            </a:prstGeom>
            <a:solidFill>
              <a:srgbClr val="1B81C4"/>
            </a:solidFill>
            <a:ln cap="flat" cmpd="sng" w="12700">
              <a:solidFill>
                <a:srgbClr val="4285F4"/>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300"/>
                <a:buFont typeface="Poppins"/>
                <a:buNone/>
              </a:pPr>
              <a:r>
                <a:t/>
              </a:r>
              <a:endParaRPr b="0" i="0" sz="1300" u="none" cap="none" strike="noStrike">
                <a:solidFill>
                  <a:srgbClr val="FFFFFF"/>
                </a:solidFill>
                <a:latin typeface="Poppins"/>
                <a:ea typeface="Poppins"/>
                <a:cs typeface="Poppins"/>
                <a:sym typeface="Poppins"/>
              </a:endParaRPr>
            </a:p>
          </p:txBody>
        </p:sp>
        <p:sp>
          <p:nvSpPr>
            <p:cNvPr id="90" name="Google Shape;90;p18"/>
            <p:cNvSpPr txBox="1"/>
            <p:nvPr/>
          </p:nvSpPr>
          <p:spPr>
            <a:xfrm>
              <a:off x="7017942" y="2848562"/>
              <a:ext cx="621600" cy="370800"/>
            </a:xfrm>
            <a:prstGeom prst="rect">
              <a:avLst/>
            </a:prstGeom>
            <a:noFill/>
            <a:ln>
              <a:noFill/>
            </a:ln>
          </p:spPr>
          <p:txBody>
            <a:bodyPr anchorCtr="0" anchor="t" bIns="45700" lIns="45700" spcFirstLastPara="1" rIns="45700" wrap="square" tIns="45700">
              <a:noAutofit/>
            </a:bodyPr>
            <a:lstStyle/>
            <a:p>
              <a:pPr indent="0" lvl="0" marL="0" marR="0" rtl="0" algn="ctr">
                <a:lnSpc>
                  <a:spcPct val="100000"/>
                </a:lnSpc>
                <a:spcBef>
                  <a:spcPts val="0"/>
                </a:spcBef>
                <a:spcAft>
                  <a:spcPts val="0"/>
                </a:spcAft>
                <a:buClr>
                  <a:srgbClr val="021237"/>
                </a:buClr>
                <a:buSzPts val="800"/>
                <a:buFont typeface="Poppins"/>
                <a:buNone/>
              </a:pPr>
              <a:r>
                <a:rPr lang="en-GB" sz="600">
                  <a:solidFill>
                    <a:srgbClr val="021237"/>
                  </a:solidFill>
                </a:rPr>
                <a:t>Project</a:t>
              </a:r>
              <a:endParaRPr sz="600">
                <a:solidFill>
                  <a:srgbClr val="021237"/>
                </a:solidFill>
              </a:endParaRPr>
            </a:p>
            <a:p>
              <a:pPr indent="0" lvl="0" marL="0" marR="0" rtl="0" algn="ctr">
                <a:lnSpc>
                  <a:spcPct val="100000"/>
                </a:lnSpc>
                <a:spcBef>
                  <a:spcPts val="0"/>
                </a:spcBef>
                <a:spcAft>
                  <a:spcPts val="0"/>
                </a:spcAft>
                <a:buClr>
                  <a:srgbClr val="021237"/>
                </a:buClr>
                <a:buSzPts val="800"/>
                <a:buFont typeface="Poppins"/>
                <a:buNone/>
              </a:pPr>
              <a:r>
                <a:rPr lang="en-GB" sz="600">
                  <a:solidFill>
                    <a:srgbClr val="021237"/>
                  </a:solidFill>
                </a:rPr>
                <a:t>end</a:t>
              </a:r>
              <a:endParaRPr sz="600">
                <a:solidFill>
                  <a:srgbClr val="021237"/>
                </a:solidFill>
              </a:endParaRPr>
            </a:p>
          </p:txBody>
        </p:sp>
      </p:grpSp>
      <p:grpSp>
        <p:nvGrpSpPr>
          <p:cNvPr id="91" name="Google Shape;91;p18"/>
          <p:cNvGrpSpPr/>
          <p:nvPr/>
        </p:nvGrpSpPr>
        <p:grpSpPr>
          <a:xfrm>
            <a:off x="61109" y="2750788"/>
            <a:ext cx="493800" cy="574574"/>
            <a:chOff x="32534" y="2597838"/>
            <a:chExt cx="493800" cy="574574"/>
          </a:xfrm>
        </p:grpSpPr>
        <p:sp>
          <p:nvSpPr>
            <p:cNvPr id="92" name="Google Shape;92;p18"/>
            <p:cNvSpPr/>
            <p:nvPr/>
          </p:nvSpPr>
          <p:spPr>
            <a:xfrm>
              <a:off x="189434" y="2597838"/>
              <a:ext cx="180000" cy="244800"/>
            </a:xfrm>
            <a:prstGeom prst="diamond">
              <a:avLst/>
            </a:prstGeom>
            <a:solidFill>
              <a:srgbClr val="1B81C4"/>
            </a:solidFill>
            <a:ln cap="flat" cmpd="sng" w="12700">
              <a:solidFill>
                <a:srgbClr val="4385F5"/>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300"/>
                <a:buFont typeface="Poppins"/>
                <a:buNone/>
              </a:pPr>
              <a:r>
                <a:t/>
              </a:r>
              <a:endParaRPr b="0" i="0" sz="1300" u="none" cap="none" strike="noStrike">
                <a:solidFill>
                  <a:srgbClr val="FFFFFF"/>
                </a:solidFill>
                <a:latin typeface="Poppins"/>
                <a:ea typeface="Poppins"/>
                <a:cs typeface="Poppins"/>
                <a:sym typeface="Poppins"/>
              </a:endParaRPr>
            </a:p>
          </p:txBody>
        </p:sp>
        <p:sp>
          <p:nvSpPr>
            <p:cNvPr id="93" name="Google Shape;93;p18"/>
            <p:cNvSpPr txBox="1"/>
            <p:nvPr/>
          </p:nvSpPr>
          <p:spPr>
            <a:xfrm>
              <a:off x="32534" y="2895512"/>
              <a:ext cx="493800" cy="276900"/>
            </a:xfrm>
            <a:prstGeom prst="rect">
              <a:avLst/>
            </a:prstGeom>
            <a:noFill/>
            <a:ln>
              <a:noFill/>
            </a:ln>
          </p:spPr>
          <p:txBody>
            <a:bodyPr anchorCtr="0" anchor="t" bIns="45700" lIns="45700" spcFirstLastPara="1" rIns="45700" wrap="square" tIns="45700">
              <a:noAutofit/>
            </a:bodyPr>
            <a:lstStyle/>
            <a:p>
              <a:pPr indent="0" lvl="0" marL="0" marR="0" rtl="0" algn="ctr">
                <a:lnSpc>
                  <a:spcPct val="100000"/>
                </a:lnSpc>
                <a:spcBef>
                  <a:spcPts val="0"/>
                </a:spcBef>
                <a:spcAft>
                  <a:spcPts val="0"/>
                </a:spcAft>
                <a:buClr>
                  <a:srgbClr val="021237"/>
                </a:buClr>
                <a:buSzPts val="800"/>
                <a:buFont typeface="Poppins"/>
                <a:buNone/>
              </a:pPr>
              <a:r>
                <a:rPr lang="en-GB" sz="600">
                  <a:solidFill>
                    <a:srgbClr val="021237"/>
                  </a:solidFill>
                </a:rPr>
                <a:t>Project start</a:t>
              </a:r>
              <a:endParaRPr sz="600"/>
            </a:p>
          </p:txBody>
        </p:sp>
      </p:grpSp>
      <p:grpSp>
        <p:nvGrpSpPr>
          <p:cNvPr id="94" name="Google Shape;94;p18"/>
          <p:cNvGrpSpPr/>
          <p:nvPr/>
        </p:nvGrpSpPr>
        <p:grpSpPr>
          <a:xfrm>
            <a:off x="8195600" y="1762638"/>
            <a:ext cx="684600" cy="2941167"/>
            <a:chOff x="7887300" y="1243280"/>
            <a:chExt cx="684600" cy="3013800"/>
          </a:xfrm>
        </p:grpSpPr>
        <p:cxnSp>
          <p:nvCxnSpPr>
            <p:cNvPr id="95" name="Google Shape;95;p18"/>
            <p:cNvCxnSpPr>
              <a:endCxn id="96" idx="0"/>
            </p:cNvCxnSpPr>
            <p:nvPr/>
          </p:nvCxnSpPr>
          <p:spPr>
            <a:xfrm>
              <a:off x="8229600" y="1243280"/>
              <a:ext cx="0" cy="2862900"/>
            </a:xfrm>
            <a:prstGeom prst="straightConnector1">
              <a:avLst/>
            </a:prstGeom>
            <a:noFill/>
            <a:ln cap="flat" cmpd="sng" w="9525">
              <a:solidFill>
                <a:srgbClr val="980000"/>
              </a:solidFill>
              <a:prstDash val="dash"/>
              <a:round/>
              <a:headEnd len="med" w="med" type="none"/>
              <a:tailEnd len="med" w="med" type="none"/>
            </a:ln>
          </p:spPr>
        </p:cxnSp>
        <p:sp>
          <p:nvSpPr>
            <p:cNvPr id="96" name="Google Shape;96;p18"/>
            <p:cNvSpPr txBox="1"/>
            <p:nvPr/>
          </p:nvSpPr>
          <p:spPr>
            <a:xfrm>
              <a:off x="7887300" y="4106180"/>
              <a:ext cx="684600" cy="1509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None/>
              </a:pPr>
              <a:r>
                <a:rPr lang="en-GB" sz="700">
                  <a:solidFill>
                    <a:srgbClr val="980000"/>
                  </a:solidFill>
                </a:rPr>
                <a:t>We are here</a:t>
              </a:r>
              <a:endParaRPr sz="700">
                <a:solidFill>
                  <a:srgbClr val="980000"/>
                </a:solidFill>
              </a:endParaRPr>
            </a:p>
          </p:txBody>
        </p:sp>
      </p:grpSp>
      <p:sp>
        <p:nvSpPr>
          <p:cNvPr id="200" name="Timeline Bar 1"/>
          <p:cNvSpPr/>
          <p:nvPr/>
        </p:nvSpPr>
        <p:spPr>
          <a:xfrm>
            <a:off x="595355" y="1917657"/>
            <a:ext cx="2310350" cy="290399"/>
          </a:xfrm>
          <a:prstGeom prst="rect">
            <a:avLst/>
          </a:prstGeom>
          <a:solidFill>
            <a:srgbClr val="006AB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850">
                <a:solidFill>
                  <a:schemeClr val="lt1"/>
                </a:solidFill>
              </a:rPr>
              <a:t>Pre-Project Research &amp; GCP Scope Definition</a:t>
            </a:r>
            <a:endParaRPr sz="800">
              <a:solidFill>
                <a:schemeClr val="lt1"/>
              </a:solidFill>
            </a:endParaRPr>
          </a:p>
          <a:p>
            <a:pPr indent="0" lvl="0" marL="0" rtl="0" algn="ctr">
              <a:spcBef>
                <a:spcPts val="0"/>
              </a:spcBef>
              <a:spcAft>
                <a:spcPts val="0"/>
              </a:spcAft>
              <a:buNone/>
            </a:pPr>
            <a:r>
              <a:rPr lang="en-GB" sz="850">
                <a:solidFill>
                  <a:schemeClr val="lt1"/>
                </a:solidFill>
              </a:rPr>
              <a:t>(SecOps Challenges &amp; Remediation Workflows)</a:t>
            </a:r>
            <a:endParaRPr sz="800">
              <a:solidFill>
                <a:schemeClr val="lt1"/>
              </a:solidFill>
            </a:endParaRPr>
          </a:p>
        </p:txBody>
      </p:sp>
      <p:sp>
        <p:nvSpPr>
          <p:cNvPr id="201" name="Timeline Bar 2"/>
          <p:cNvSpPr/>
          <p:nvPr/>
        </p:nvSpPr>
        <p:spPr>
          <a:xfrm>
            <a:off x="997155" y="2263371"/>
            <a:ext cx="2511250" cy="290399"/>
          </a:xfrm>
          <a:prstGeom prst="rect">
            <a:avLst/>
          </a:prstGeom>
          <a:solidFill>
            <a:srgbClr val="006AB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850">
                <a:solidFill>
                  <a:schemeClr val="lt1"/>
                </a:solidFill>
              </a:rPr>
              <a:t>Architecture Exploration &amp; Tooling Selection</a:t>
            </a:r>
            <a:endParaRPr sz="800">
              <a:solidFill>
                <a:schemeClr val="lt1"/>
              </a:solidFill>
            </a:endParaRPr>
          </a:p>
          <a:p>
            <a:pPr indent="0" lvl="0" marL="0" rtl="0" algn="ctr">
              <a:spcBef>
                <a:spcPts val="0"/>
              </a:spcBef>
              <a:spcAft>
                <a:spcPts val="0"/>
              </a:spcAft>
              <a:buNone/>
            </a:pPr>
            <a:r>
              <a:rPr lang="en-GB" sz="850">
                <a:solidFill>
                  <a:schemeClr val="lt1"/>
                </a:solidFill>
              </a:rPr>
              <a:t>(GitOps Workflow vs. Direct Execution Analysis)</a:t>
            </a:r>
            <a:endParaRPr sz="800">
              <a:solidFill>
                <a:schemeClr val="lt1"/>
              </a:solidFill>
            </a:endParaRPr>
          </a:p>
        </p:txBody>
      </p:sp>
      <p:sp>
        <p:nvSpPr>
          <p:cNvPr id="202" name="Timeline Bar 3"/>
          <p:cNvSpPr/>
          <p:nvPr/>
        </p:nvSpPr>
        <p:spPr>
          <a:xfrm>
            <a:off x="1599855" y="2609085"/>
            <a:ext cx="2611700" cy="290399"/>
          </a:xfrm>
          <a:prstGeom prst="rect">
            <a:avLst/>
          </a:prstGeom>
          <a:solidFill>
            <a:srgbClr val="006AB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850">
                <a:solidFill>
                  <a:schemeClr val="lt1"/>
                </a:solidFill>
              </a:rPr>
              <a:t>Solution Architecture &amp; Data Store Design</a:t>
            </a:r>
            <a:endParaRPr sz="800">
              <a:solidFill>
                <a:schemeClr val="lt1"/>
              </a:solidFill>
            </a:endParaRPr>
          </a:p>
          <a:p>
            <a:pPr indent="0" lvl="0" marL="0" rtl="0" algn="ctr">
              <a:spcBef>
                <a:spcPts val="0"/>
              </a:spcBef>
              <a:spcAft>
                <a:spcPts val="0"/>
              </a:spcAft>
              <a:buNone/>
            </a:pPr>
            <a:r>
              <a:rPr lang="en-GB" sz="850">
                <a:solidFill>
                  <a:schemeClr val="lt1"/>
                </a:solidFill>
              </a:rPr>
              <a:t>(Real-Time State vs. Historical Audit Ledger)</a:t>
            </a:r>
            <a:endParaRPr sz="800">
              <a:solidFill>
                <a:schemeClr val="lt1"/>
              </a:solidFill>
            </a:endParaRPr>
          </a:p>
        </p:txBody>
      </p:sp>
      <p:sp>
        <p:nvSpPr>
          <p:cNvPr id="203" name="Timeline Bar 4"/>
          <p:cNvSpPr/>
          <p:nvPr/>
        </p:nvSpPr>
        <p:spPr>
          <a:xfrm>
            <a:off x="2403455" y="2954799"/>
            <a:ext cx="4419800" cy="290399"/>
          </a:xfrm>
          <a:prstGeom prst="rect">
            <a:avLst/>
          </a:prstGeom>
          <a:solidFill>
            <a:srgbClr val="006AB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850">
                <a:solidFill>
                  <a:schemeClr val="lt1"/>
                </a:solidFill>
              </a:rPr>
              <a:t>CloudGuard Agent &amp; Chatbot Prototype Development</a:t>
            </a:r>
            <a:endParaRPr sz="800">
              <a:solidFill>
                <a:schemeClr val="lt1"/>
              </a:solidFill>
            </a:endParaRPr>
          </a:p>
          <a:p>
            <a:pPr indent="0" lvl="0" marL="0" rtl="0" algn="ctr">
              <a:spcBef>
                <a:spcPts val="0"/>
              </a:spcBef>
              <a:spcAft>
                <a:spcPts val="0"/>
              </a:spcAft>
              <a:buNone/>
            </a:pPr>
            <a:r>
              <a:rPr lang="en-GB" sz="850">
                <a:solidFill>
                  <a:schemeClr val="lt1"/>
                </a:solidFill>
              </a:rPr>
              <a:t>(Automated Triage, Deduplication &amp; 1-Click Fix)</a:t>
            </a:r>
            <a:endParaRPr sz="800">
              <a:solidFill>
                <a:schemeClr val="lt1"/>
              </a:solidFill>
            </a:endParaRPr>
          </a:p>
        </p:txBody>
      </p:sp>
      <p:sp>
        <p:nvSpPr>
          <p:cNvPr id="204" name="Timeline Bar 5"/>
          <p:cNvSpPr/>
          <p:nvPr/>
        </p:nvSpPr>
        <p:spPr>
          <a:xfrm>
            <a:off x="4613355" y="3300513"/>
            <a:ext cx="3013500" cy="290399"/>
          </a:xfrm>
          <a:prstGeom prst="rect">
            <a:avLst/>
          </a:prstGeom>
          <a:solidFill>
            <a:srgbClr val="006AB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850">
                <a:solidFill>
                  <a:schemeClr val="lt1"/>
                </a:solidFill>
              </a:rPr>
              <a:t>Prototype Testing &amp; Validation Across</a:t>
            </a:r>
            <a:endParaRPr sz="800">
              <a:solidFill>
                <a:schemeClr val="lt1"/>
              </a:solidFill>
            </a:endParaRPr>
          </a:p>
          <a:p>
            <a:pPr indent="0" lvl="0" marL="0" rtl="0" algn="ctr">
              <a:spcBef>
                <a:spcPts val="0"/>
              </a:spcBef>
              <a:spcAft>
                <a:spcPts val="0"/>
              </a:spcAft>
              <a:buNone/>
            </a:pPr>
            <a:r>
              <a:rPr lang="en-GB" sz="850">
                <a:solidFill>
                  <a:schemeClr val="lt1"/>
                </a:solidFill>
              </a:rPr>
              <a:t>Simulated Cloud Misconfigurations</a:t>
            </a:r>
            <a:endParaRPr sz="800">
              <a:solidFill>
                <a:schemeClr val="lt1"/>
              </a:solidFill>
            </a:endParaRPr>
          </a:p>
        </p:txBody>
      </p:sp>
      <p:sp>
        <p:nvSpPr>
          <p:cNvPr id="205" name="Timeline Bar 6"/>
          <p:cNvSpPr/>
          <p:nvPr/>
        </p:nvSpPr>
        <p:spPr>
          <a:xfrm>
            <a:off x="5015155" y="3646227"/>
            <a:ext cx="2812600" cy="290399"/>
          </a:xfrm>
          <a:prstGeom prst="rect">
            <a:avLst/>
          </a:prstGeom>
          <a:solidFill>
            <a:srgbClr val="006AB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850">
                <a:solidFill>
                  <a:schemeClr val="lt1"/>
                </a:solidFill>
              </a:rPr>
              <a:t>Performance &amp; Remediation Metrics Evaluation</a:t>
            </a:r>
            <a:endParaRPr sz="800">
              <a:solidFill>
                <a:schemeClr val="lt1"/>
              </a:solidFill>
            </a:endParaRPr>
          </a:p>
          <a:p>
            <a:pPr indent="0" lvl="0" marL="0" rtl="0" algn="ctr">
              <a:spcBef>
                <a:spcPts val="0"/>
              </a:spcBef>
              <a:spcAft>
                <a:spcPts val="0"/>
              </a:spcAft>
              <a:buNone/>
            </a:pPr>
            <a:r>
              <a:rPr lang="en-GB" sz="850">
                <a:solidFill>
                  <a:schemeClr val="lt1"/>
                </a:solidFill>
              </a:rPr>
              <a:t>(MTTR Improvement &amp; Alert Fatigue Reduction)</a:t>
            </a:r>
            <a:endParaRPr sz="800">
              <a:solidFill>
                <a:schemeClr val="lt1"/>
              </a:solidFill>
            </a:endParaRPr>
          </a:p>
        </p:txBody>
      </p:sp>
      <p:sp>
        <p:nvSpPr>
          <p:cNvPr id="206" name="Timeline Bar 7"/>
          <p:cNvSpPr/>
          <p:nvPr/>
        </p:nvSpPr>
        <p:spPr>
          <a:xfrm>
            <a:off x="6120105" y="3991941"/>
            <a:ext cx="2511250" cy="290399"/>
          </a:xfrm>
          <a:prstGeom prst="rect">
            <a:avLst/>
          </a:prstGeom>
          <a:solidFill>
            <a:srgbClr val="006AB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850">
                <a:solidFill>
                  <a:schemeClr val="lt1"/>
                </a:solidFill>
              </a:rPr>
              <a:t>Final Capstone Presentation, Live Demo</a:t>
            </a:r>
            <a:endParaRPr sz="800">
              <a:solidFill>
                <a:schemeClr val="lt1"/>
              </a:solidFill>
            </a:endParaRPr>
          </a:p>
          <a:p>
            <a:pPr indent="0" lvl="0" marL="0" rtl="0" algn="ctr">
              <a:spcBef>
                <a:spcPts val="0"/>
              </a:spcBef>
              <a:spcAft>
                <a:spcPts val="0"/>
              </a:spcAft>
              <a:buNone/>
            </a:pPr>
            <a:r>
              <a:rPr lang="en-GB" sz="850">
                <a:solidFill>
                  <a:schemeClr val="lt1"/>
                </a:solidFill>
              </a:rPr>
              <a:t>&amp; Project Showcase</a:t>
            </a:r>
            <a:endParaRPr sz="800">
              <a:solidFill>
                <a:schemeClr val="l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Firestore Schema (JSON)</a:t>
            </a:r>
            <a:endParaRPr/>
          </a:p>
        </p:txBody>
      </p:sp>
      <p:sp>
        <p:nvSpPr>
          <p:cNvPr id="108" name="Google Shape;108;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Clr>
                <a:schemeClr val="dk1"/>
              </a:buClr>
              <a:buSzPct val="25428"/>
              <a:buFont typeface="Arial"/>
              <a:buNone/>
            </a:pPr>
            <a:r>
              <a:rPr lang="en-GB" sz="4326">
                <a:solidFill>
                  <a:schemeClr val="dk1"/>
                </a:solidFill>
              </a:rPr>
              <a:t>{</a:t>
            </a:r>
            <a:endParaRPr sz="4326">
              <a:solidFill>
                <a:schemeClr val="dk1"/>
              </a:solidFill>
            </a:endParaRPr>
          </a:p>
          <a:p>
            <a:pPr indent="0" lvl="0" marL="0" rtl="0" algn="l">
              <a:spcBef>
                <a:spcPts val="1200"/>
              </a:spcBef>
              <a:spcAft>
                <a:spcPts val="0"/>
              </a:spcAft>
              <a:buClr>
                <a:schemeClr val="dk1"/>
              </a:buClr>
              <a:buSzPct val="25428"/>
              <a:buFont typeface="Arial"/>
              <a:buNone/>
            </a:pPr>
            <a:r>
              <a:rPr lang="en-GB" sz="4326">
                <a:solidFill>
                  <a:schemeClr val="dk1"/>
                </a:solidFill>
              </a:rPr>
              <a:t>  // Document ID: organizations/123/sources/456/findings/abc</a:t>
            </a:r>
            <a:endParaRPr sz="4326">
              <a:solidFill>
                <a:schemeClr val="dk1"/>
              </a:solidFill>
            </a:endParaRPr>
          </a:p>
          <a:p>
            <a:pPr indent="0" lvl="0" marL="0" rtl="0" algn="l">
              <a:spcBef>
                <a:spcPts val="1200"/>
              </a:spcBef>
              <a:spcAft>
                <a:spcPts val="0"/>
              </a:spcAft>
              <a:buClr>
                <a:schemeClr val="dk1"/>
              </a:buClr>
              <a:buSzPct val="25428"/>
              <a:buFont typeface="Arial"/>
              <a:buNone/>
            </a:pPr>
            <a:r>
              <a:rPr lang="en-GB" sz="4326">
                <a:solidFill>
                  <a:schemeClr val="dk1"/>
                </a:solidFill>
              </a:rPr>
              <a:t>  </a:t>
            </a:r>
            <a:r>
              <a:rPr lang="en-GB" sz="4326">
                <a:solidFill>
                  <a:srgbClr val="FF00FF"/>
                </a:solidFill>
              </a:rPr>
              <a:t>"status"</a:t>
            </a:r>
            <a:r>
              <a:rPr lang="en-GB" sz="4326">
                <a:solidFill>
                  <a:schemeClr val="dk1"/>
                </a:solidFill>
              </a:rPr>
              <a:t>: </a:t>
            </a:r>
            <a:r>
              <a:rPr lang="en-GB" sz="4326">
                <a:solidFill>
                  <a:srgbClr val="00FF00"/>
                </a:solidFill>
              </a:rPr>
              <a:t>"PR_OPEN"</a:t>
            </a:r>
            <a:r>
              <a:rPr lang="en-GB" sz="4326">
                <a:solidFill>
                  <a:schemeClr val="dk1"/>
                </a:solidFill>
              </a:rPr>
              <a:t>,</a:t>
            </a:r>
            <a:endParaRPr sz="4326">
              <a:solidFill>
                <a:schemeClr val="dk1"/>
              </a:solidFill>
            </a:endParaRPr>
          </a:p>
          <a:p>
            <a:pPr indent="0" lvl="0" marL="0" rtl="0" algn="l">
              <a:spcBef>
                <a:spcPts val="1200"/>
              </a:spcBef>
              <a:spcAft>
                <a:spcPts val="0"/>
              </a:spcAft>
              <a:buClr>
                <a:schemeClr val="dk1"/>
              </a:buClr>
              <a:buSzPct val="25428"/>
              <a:buFont typeface="Arial"/>
              <a:buNone/>
            </a:pPr>
            <a:r>
              <a:rPr lang="en-GB" sz="4326">
                <a:solidFill>
                  <a:schemeClr val="dk1"/>
                </a:solidFill>
              </a:rPr>
              <a:t>  </a:t>
            </a:r>
            <a:r>
              <a:rPr lang="en-GB" sz="4326">
                <a:solidFill>
                  <a:srgbClr val="FF00FF"/>
                </a:solidFill>
              </a:rPr>
              <a:t>"resource_name"</a:t>
            </a:r>
            <a:r>
              <a:rPr lang="en-GB" sz="4326">
                <a:solidFill>
                  <a:schemeClr val="dk1"/>
                </a:solidFill>
              </a:rPr>
              <a:t>: </a:t>
            </a:r>
            <a:r>
              <a:rPr lang="en-GB" sz="4326">
                <a:solidFill>
                  <a:srgbClr val="00FF00"/>
                </a:solidFill>
              </a:rPr>
              <a:t>"//storage.googleapis.com/prod-customer-data"</a:t>
            </a:r>
            <a:r>
              <a:rPr lang="en-GB" sz="4326">
                <a:solidFill>
                  <a:schemeClr val="dk1"/>
                </a:solidFill>
              </a:rPr>
              <a:t>,</a:t>
            </a:r>
            <a:endParaRPr sz="4326">
              <a:solidFill>
                <a:schemeClr val="dk1"/>
              </a:solidFill>
            </a:endParaRPr>
          </a:p>
          <a:p>
            <a:pPr indent="0" lvl="0" marL="0" rtl="0" algn="l">
              <a:spcBef>
                <a:spcPts val="1200"/>
              </a:spcBef>
              <a:spcAft>
                <a:spcPts val="0"/>
              </a:spcAft>
              <a:buClr>
                <a:schemeClr val="dk1"/>
              </a:buClr>
              <a:buSzPct val="25428"/>
              <a:buFont typeface="Arial"/>
              <a:buNone/>
            </a:pPr>
            <a:r>
              <a:rPr lang="en-GB" sz="4326">
                <a:solidFill>
                  <a:schemeClr val="dk1"/>
                </a:solidFill>
              </a:rPr>
              <a:t>  </a:t>
            </a:r>
            <a:r>
              <a:rPr lang="en-GB" sz="4326">
                <a:solidFill>
                  <a:srgbClr val="FF00FF"/>
                </a:solidFill>
              </a:rPr>
              <a:t>"category"</a:t>
            </a:r>
            <a:r>
              <a:rPr lang="en-GB" sz="4326">
                <a:solidFill>
                  <a:schemeClr val="dk1"/>
                </a:solidFill>
              </a:rPr>
              <a:t>: </a:t>
            </a:r>
            <a:r>
              <a:rPr lang="en-GB" sz="4326">
                <a:solidFill>
                  <a:srgbClr val="00FF00"/>
                </a:solidFill>
              </a:rPr>
              <a:t>"PUBLIC_BUCKET_IAM"</a:t>
            </a:r>
            <a:r>
              <a:rPr lang="en-GB" sz="4326">
                <a:solidFill>
                  <a:schemeClr val="dk1"/>
                </a:solidFill>
              </a:rPr>
              <a:t>,</a:t>
            </a:r>
            <a:endParaRPr sz="4326">
              <a:solidFill>
                <a:schemeClr val="dk1"/>
              </a:solidFill>
            </a:endParaRPr>
          </a:p>
          <a:p>
            <a:pPr indent="0" lvl="0" marL="0" rtl="0" algn="l">
              <a:spcBef>
                <a:spcPts val="1200"/>
              </a:spcBef>
              <a:spcAft>
                <a:spcPts val="0"/>
              </a:spcAft>
              <a:buClr>
                <a:schemeClr val="dk1"/>
              </a:buClr>
              <a:buSzPct val="25428"/>
              <a:buFont typeface="Arial"/>
              <a:buNone/>
            </a:pPr>
            <a:r>
              <a:rPr lang="en-GB" sz="4326">
                <a:solidFill>
                  <a:schemeClr val="dk1"/>
                </a:solidFill>
              </a:rPr>
              <a:t>  </a:t>
            </a:r>
            <a:r>
              <a:rPr lang="en-GB" sz="4326">
                <a:solidFill>
                  <a:srgbClr val="FF00FF"/>
                </a:solidFill>
              </a:rPr>
              <a:t>"severity"</a:t>
            </a:r>
            <a:r>
              <a:rPr lang="en-GB" sz="4326">
                <a:solidFill>
                  <a:schemeClr val="dk1"/>
                </a:solidFill>
              </a:rPr>
              <a:t>: </a:t>
            </a:r>
            <a:r>
              <a:rPr lang="en-GB" sz="4326">
                <a:solidFill>
                  <a:srgbClr val="00FF00"/>
                </a:solidFill>
              </a:rPr>
              <a:t>"HIGH"</a:t>
            </a:r>
            <a:r>
              <a:rPr lang="en-GB" sz="4326">
                <a:solidFill>
                  <a:schemeClr val="dk1"/>
                </a:solidFill>
              </a:rPr>
              <a:t>,</a:t>
            </a:r>
            <a:endParaRPr sz="4326">
              <a:solidFill>
                <a:schemeClr val="dk1"/>
              </a:solidFill>
            </a:endParaRPr>
          </a:p>
          <a:p>
            <a:pPr indent="0" lvl="0" marL="0" rtl="0" algn="l">
              <a:spcBef>
                <a:spcPts val="1200"/>
              </a:spcBef>
              <a:spcAft>
                <a:spcPts val="0"/>
              </a:spcAft>
              <a:buClr>
                <a:schemeClr val="dk1"/>
              </a:buClr>
              <a:buSzPct val="25428"/>
              <a:buFont typeface="Arial"/>
              <a:buNone/>
            </a:pPr>
            <a:r>
              <a:rPr lang="en-GB" sz="4326">
                <a:solidFill>
                  <a:schemeClr val="dk1"/>
                </a:solidFill>
              </a:rPr>
              <a:t>  </a:t>
            </a:r>
            <a:r>
              <a:rPr lang="en-GB" sz="4326">
                <a:solidFill>
                  <a:srgbClr val="FF00FF"/>
                </a:solidFill>
              </a:rPr>
              <a:t>"created_at"</a:t>
            </a:r>
            <a:r>
              <a:rPr lang="en-GB" sz="4326">
                <a:solidFill>
                  <a:schemeClr val="dk1"/>
                </a:solidFill>
              </a:rPr>
              <a:t>: </a:t>
            </a:r>
            <a:r>
              <a:rPr lang="en-GB" sz="4326">
                <a:solidFill>
                  <a:srgbClr val="00FF00"/>
                </a:solidFill>
              </a:rPr>
              <a:t>"2026-10-14T15:30:00Z"</a:t>
            </a:r>
            <a:r>
              <a:rPr lang="en-GB" sz="4326">
                <a:solidFill>
                  <a:schemeClr val="dk1"/>
                </a:solidFill>
              </a:rPr>
              <a:t>,</a:t>
            </a:r>
            <a:endParaRPr sz="4326">
              <a:solidFill>
                <a:schemeClr val="dk1"/>
              </a:solidFill>
            </a:endParaRPr>
          </a:p>
          <a:p>
            <a:pPr indent="0" lvl="0" marL="0" rtl="0" algn="l">
              <a:spcBef>
                <a:spcPts val="1200"/>
              </a:spcBef>
              <a:spcAft>
                <a:spcPts val="0"/>
              </a:spcAft>
              <a:buClr>
                <a:schemeClr val="dk1"/>
              </a:buClr>
              <a:buSzPct val="25428"/>
              <a:buFont typeface="Arial"/>
              <a:buNone/>
            </a:pPr>
            <a:r>
              <a:rPr lang="en-GB" sz="4326">
                <a:solidFill>
                  <a:schemeClr val="dk1"/>
                </a:solidFill>
              </a:rPr>
              <a:t>  </a:t>
            </a:r>
            <a:r>
              <a:rPr lang="en-GB" sz="4326">
                <a:solidFill>
                  <a:srgbClr val="FF00FF"/>
                </a:solidFill>
              </a:rPr>
              <a:t>"updated_at"</a:t>
            </a:r>
            <a:r>
              <a:rPr lang="en-GB" sz="4326">
                <a:solidFill>
                  <a:schemeClr val="dk1"/>
                </a:solidFill>
              </a:rPr>
              <a:t>: </a:t>
            </a:r>
            <a:r>
              <a:rPr lang="en-GB" sz="4326">
                <a:solidFill>
                  <a:srgbClr val="00FF00"/>
                </a:solidFill>
              </a:rPr>
              <a:t>"2026-10-15T09:12:00Z"</a:t>
            </a:r>
            <a:r>
              <a:rPr lang="en-GB" sz="4326">
                <a:solidFill>
                  <a:schemeClr val="dk1"/>
                </a:solidFill>
              </a:rPr>
              <a:t>,</a:t>
            </a:r>
            <a:endParaRPr sz="4326">
              <a:solidFill>
                <a:schemeClr val="dk1"/>
              </a:solidFill>
            </a:endParaRPr>
          </a:p>
          <a:p>
            <a:pPr indent="0" lvl="0" marL="0" rtl="0" algn="l">
              <a:spcBef>
                <a:spcPts val="1200"/>
              </a:spcBef>
              <a:spcAft>
                <a:spcPts val="0"/>
              </a:spcAft>
              <a:buClr>
                <a:schemeClr val="dk1"/>
              </a:buClr>
              <a:buSzPct val="25428"/>
              <a:buFont typeface="Arial"/>
              <a:buNone/>
            </a:pPr>
            <a:r>
              <a:rPr lang="en-GB" sz="4326">
                <a:solidFill>
                  <a:schemeClr val="dk1"/>
                </a:solidFill>
              </a:rPr>
              <a:t>  </a:t>
            </a:r>
            <a:r>
              <a:rPr lang="en-GB" sz="4326">
                <a:solidFill>
                  <a:srgbClr val="FF00FF"/>
                </a:solidFill>
              </a:rPr>
              <a:t>"chat_message_id"</a:t>
            </a:r>
            <a:r>
              <a:rPr lang="en-GB" sz="4326">
                <a:solidFill>
                  <a:schemeClr val="dk1"/>
                </a:solidFill>
              </a:rPr>
              <a:t>: </a:t>
            </a:r>
            <a:r>
              <a:rPr lang="en-GB" sz="4326">
                <a:solidFill>
                  <a:srgbClr val="00FF00"/>
                </a:solidFill>
              </a:rPr>
              <a:t>"spaces/AAAABBBCCC/messages/123456"</a:t>
            </a:r>
            <a:r>
              <a:rPr lang="en-GB" sz="4326">
                <a:solidFill>
                  <a:schemeClr val="dk1"/>
                </a:solidFill>
              </a:rPr>
              <a:t>,</a:t>
            </a:r>
            <a:endParaRPr sz="4326">
              <a:solidFill>
                <a:schemeClr val="dk1"/>
              </a:solidFill>
            </a:endParaRPr>
          </a:p>
          <a:p>
            <a:pPr indent="0" lvl="0" marL="0" rtl="0" algn="l">
              <a:spcBef>
                <a:spcPts val="1200"/>
              </a:spcBef>
              <a:spcAft>
                <a:spcPts val="0"/>
              </a:spcAft>
              <a:buClr>
                <a:schemeClr val="dk1"/>
              </a:buClr>
              <a:buSzPct val="25428"/>
              <a:buFont typeface="Arial"/>
              <a:buNone/>
            </a:pPr>
            <a:r>
              <a:rPr lang="en-GB" sz="4326">
                <a:solidFill>
                  <a:schemeClr val="dk1"/>
                </a:solidFill>
              </a:rPr>
              <a:t>  </a:t>
            </a:r>
            <a:r>
              <a:rPr lang="en-GB" sz="4326">
                <a:solidFill>
                  <a:srgbClr val="FF00FF"/>
                </a:solidFill>
              </a:rPr>
              <a:t>"handled_by"</a:t>
            </a:r>
            <a:r>
              <a:rPr lang="en-GB" sz="4326">
                <a:solidFill>
                  <a:schemeClr val="dk1"/>
                </a:solidFill>
              </a:rPr>
              <a:t>: </a:t>
            </a:r>
            <a:r>
              <a:rPr lang="en-GB" sz="4326">
                <a:solidFill>
                  <a:srgbClr val="00FF00"/>
                </a:solidFill>
              </a:rPr>
              <a:t>"anthony.youssef@goreply.com"</a:t>
            </a:r>
            <a:endParaRPr sz="4326">
              <a:solidFill>
                <a:srgbClr val="00FF00"/>
              </a:solidFill>
            </a:endParaRPr>
          </a:p>
          <a:p>
            <a:pPr indent="0" lvl="0" marL="0" rtl="0" algn="l">
              <a:spcBef>
                <a:spcPts val="1200"/>
              </a:spcBef>
              <a:spcAft>
                <a:spcPts val="0"/>
              </a:spcAft>
              <a:buClr>
                <a:schemeClr val="dk1"/>
              </a:buClr>
              <a:buSzPct val="25428"/>
              <a:buFont typeface="Arial"/>
              <a:buNone/>
            </a:pPr>
            <a:r>
              <a:rPr lang="en-GB" sz="4326">
                <a:solidFill>
                  <a:schemeClr val="dk1"/>
                </a:solidFill>
              </a:rPr>
              <a:t>}</a:t>
            </a:r>
            <a:endParaRPr sz="4326">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BigQuery Schema (SQL)</a:t>
            </a:r>
            <a:endParaRPr/>
          </a:p>
        </p:txBody>
      </p:sp>
      <p:sp>
        <p:nvSpPr>
          <p:cNvPr id="114" name="Google Shape;114;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Clr>
                <a:schemeClr val="dk1"/>
              </a:buClr>
              <a:buSzPct val="30919"/>
              <a:buFont typeface="Arial"/>
              <a:buNone/>
            </a:pPr>
            <a:r>
              <a:rPr lang="en-GB" sz="3558">
                <a:solidFill>
                  <a:srgbClr val="9900FF"/>
                </a:solidFill>
              </a:rPr>
              <a:t>CREATE TABLE</a:t>
            </a:r>
            <a:r>
              <a:rPr lang="en-GB" sz="3558">
                <a:solidFill>
                  <a:schemeClr val="dk1"/>
                </a:solidFill>
              </a:rPr>
              <a:t> `your-project.scc_analytics.alerts_state` (</a:t>
            </a:r>
            <a:endParaRPr sz="3558">
              <a:solidFill>
                <a:schemeClr val="dk1"/>
              </a:solidFill>
            </a:endParaRPr>
          </a:p>
          <a:p>
            <a:pPr indent="0" lvl="0" marL="0" rtl="0" algn="l">
              <a:spcBef>
                <a:spcPts val="1200"/>
              </a:spcBef>
              <a:spcAft>
                <a:spcPts val="0"/>
              </a:spcAft>
              <a:buClr>
                <a:schemeClr val="dk1"/>
              </a:buClr>
              <a:buSzPct val="30919"/>
              <a:buFont typeface="Arial"/>
              <a:buNone/>
            </a:pPr>
            <a:r>
              <a:rPr lang="en-GB" sz="3558">
                <a:solidFill>
                  <a:schemeClr val="dk1"/>
                </a:solidFill>
              </a:rPr>
              <a:t>  finding_name STRING </a:t>
            </a:r>
            <a:r>
              <a:rPr lang="en-GB" sz="3558">
                <a:solidFill>
                  <a:srgbClr val="9900FF"/>
                </a:solidFill>
              </a:rPr>
              <a:t>NOT NULL</a:t>
            </a:r>
            <a:r>
              <a:rPr lang="en-GB" sz="3558">
                <a:solidFill>
                  <a:schemeClr val="dk1"/>
                </a:solidFill>
              </a:rPr>
              <a:t> OPTIONS(description="The unique SCC finding name (Document ID in Firestore)"),</a:t>
            </a:r>
            <a:endParaRPr sz="3558">
              <a:solidFill>
                <a:schemeClr val="dk1"/>
              </a:solidFill>
            </a:endParaRPr>
          </a:p>
          <a:p>
            <a:pPr indent="0" lvl="0" marL="0" rtl="0" algn="l">
              <a:spcBef>
                <a:spcPts val="1200"/>
              </a:spcBef>
              <a:spcAft>
                <a:spcPts val="0"/>
              </a:spcAft>
              <a:buClr>
                <a:schemeClr val="dk1"/>
              </a:buClr>
              <a:buSzPct val="30919"/>
              <a:buFont typeface="Arial"/>
              <a:buNone/>
            </a:pPr>
            <a:r>
              <a:rPr lang="en-GB" sz="3558">
                <a:solidFill>
                  <a:schemeClr val="dk1"/>
                </a:solidFill>
              </a:rPr>
              <a:t>  status STRING </a:t>
            </a:r>
            <a:r>
              <a:rPr lang="en-GB" sz="3558">
                <a:solidFill>
                  <a:srgbClr val="9900FF"/>
                </a:solidFill>
              </a:rPr>
              <a:t>NOT NULL</a:t>
            </a:r>
            <a:r>
              <a:rPr lang="en-GB" sz="3558">
                <a:solidFill>
                  <a:schemeClr val="dk1"/>
                </a:solidFill>
              </a:rPr>
              <a:t> OPTIONS(description="Current state: NOTIFIED, ACKNOWLEDGED, PR_OPEN, RESOLVED, IGNORED"),</a:t>
            </a:r>
            <a:endParaRPr sz="3558">
              <a:solidFill>
                <a:schemeClr val="dk1"/>
              </a:solidFill>
            </a:endParaRPr>
          </a:p>
          <a:p>
            <a:pPr indent="0" lvl="0" marL="0" rtl="0" algn="l">
              <a:spcBef>
                <a:spcPts val="1200"/>
              </a:spcBef>
              <a:spcAft>
                <a:spcPts val="0"/>
              </a:spcAft>
              <a:buClr>
                <a:schemeClr val="dk1"/>
              </a:buClr>
              <a:buSzPct val="30919"/>
              <a:buFont typeface="Arial"/>
              <a:buNone/>
            </a:pPr>
            <a:r>
              <a:rPr lang="en-GB" sz="3558">
                <a:solidFill>
                  <a:schemeClr val="dk1"/>
                </a:solidFill>
              </a:rPr>
              <a:t>  resource_name STRING OPTIONS(description="The GCP resource affected (e.g., projects/my-proj/buckets/data)"),</a:t>
            </a:r>
            <a:endParaRPr sz="3558">
              <a:solidFill>
                <a:schemeClr val="dk1"/>
              </a:solidFill>
            </a:endParaRPr>
          </a:p>
          <a:p>
            <a:pPr indent="0" lvl="0" marL="0" rtl="0" algn="l">
              <a:spcBef>
                <a:spcPts val="1200"/>
              </a:spcBef>
              <a:spcAft>
                <a:spcPts val="0"/>
              </a:spcAft>
              <a:buClr>
                <a:schemeClr val="dk1"/>
              </a:buClr>
              <a:buSzPct val="30919"/>
              <a:buFont typeface="Arial"/>
              <a:buNone/>
            </a:pPr>
            <a:r>
              <a:rPr lang="en-GB" sz="3558">
                <a:solidFill>
                  <a:schemeClr val="dk1"/>
                </a:solidFill>
              </a:rPr>
              <a:t>  category STRING OPTIONS(description="The type of finding (e.g., PUBLIC_BUCKET_IAM)"),</a:t>
            </a:r>
            <a:endParaRPr sz="3558">
              <a:solidFill>
                <a:schemeClr val="dk1"/>
              </a:solidFill>
            </a:endParaRPr>
          </a:p>
          <a:p>
            <a:pPr indent="0" lvl="0" marL="0" rtl="0" algn="l">
              <a:spcBef>
                <a:spcPts val="1200"/>
              </a:spcBef>
              <a:spcAft>
                <a:spcPts val="0"/>
              </a:spcAft>
              <a:buClr>
                <a:schemeClr val="dk1"/>
              </a:buClr>
              <a:buSzPct val="30919"/>
              <a:buFont typeface="Arial"/>
              <a:buNone/>
            </a:pPr>
            <a:r>
              <a:rPr lang="en-GB" sz="3558">
                <a:solidFill>
                  <a:schemeClr val="dk1"/>
                </a:solidFill>
              </a:rPr>
              <a:t>  severity STRING OPTIONS(description="CRITICAL, HIGH, MEDIUM, LOW"),</a:t>
            </a:r>
            <a:endParaRPr sz="3558">
              <a:solidFill>
                <a:schemeClr val="dk1"/>
              </a:solidFill>
            </a:endParaRPr>
          </a:p>
          <a:p>
            <a:pPr indent="0" lvl="0" marL="0" rtl="0" algn="l">
              <a:spcBef>
                <a:spcPts val="1200"/>
              </a:spcBef>
              <a:spcAft>
                <a:spcPts val="0"/>
              </a:spcAft>
              <a:buClr>
                <a:schemeClr val="dk1"/>
              </a:buClr>
              <a:buSzPct val="30919"/>
              <a:buFont typeface="Arial"/>
              <a:buNone/>
            </a:pPr>
            <a:r>
              <a:rPr lang="en-GB" sz="3558">
                <a:solidFill>
                  <a:schemeClr val="dk1"/>
                </a:solidFill>
              </a:rPr>
              <a:t>  created_at </a:t>
            </a:r>
            <a:r>
              <a:rPr lang="en-GB" sz="3558">
                <a:solidFill>
                  <a:srgbClr val="9900FF"/>
                </a:solidFill>
              </a:rPr>
              <a:t>TIMESTAMP</a:t>
            </a:r>
            <a:r>
              <a:rPr lang="en-GB" sz="3558">
                <a:solidFill>
                  <a:schemeClr val="dk1"/>
                </a:solidFill>
              </a:rPr>
              <a:t> OPTIONS(description="When the finding was first ingested"),</a:t>
            </a:r>
            <a:endParaRPr sz="3558">
              <a:solidFill>
                <a:schemeClr val="dk1"/>
              </a:solidFill>
            </a:endParaRPr>
          </a:p>
          <a:p>
            <a:pPr indent="0" lvl="0" marL="0" rtl="0" algn="l">
              <a:spcBef>
                <a:spcPts val="1200"/>
              </a:spcBef>
              <a:spcAft>
                <a:spcPts val="0"/>
              </a:spcAft>
              <a:buClr>
                <a:schemeClr val="dk1"/>
              </a:buClr>
              <a:buSzPct val="30919"/>
              <a:buFont typeface="Arial"/>
              <a:buNone/>
            </a:pPr>
            <a:r>
              <a:rPr lang="en-GB" sz="3558">
                <a:solidFill>
                  <a:schemeClr val="dk1"/>
                </a:solidFill>
              </a:rPr>
              <a:t>  updated_at </a:t>
            </a:r>
            <a:r>
              <a:rPr lang="en-GB" sz="3558">
                <a:solidFill>
                  <a:srgbClr val="9900FF"/>
                </a:solidFill>
              </a:rPr>
              <a:t>TIMESTAMP</a:t>
            </a:r>
            <a:r>
              <a:rPr lang="en-GB" sz="3558">
                <a:solidFill>
                  <a:schemeClr val="dk1"/>
                </a:solidFill>
              </a:rPr>
              <a:t> OPTIONS(description="When the status was last changed"),</a:t>
            </a:r>
            <a:endParaRPr sz="3558">
              <a:solidFill>
                <a:schemeClr val="dk1"/>
              </a:solidFill>
            </a:endParaRPr>
          </a:p>
          <a:p>
            <a:pPr indent="0" lvl="0" marL="0" rtl="0" algn="l">
              <a:spcBef>
                <a:spcPts val="1200"/>
              </a:spcBef>
              <a:spcAft>
                <a:spcPts val="0"/>
              </a:spcAft>
              <a:buClr>
                <a:schemeClr val="dk1"/>
              </a:buClr>
              <a:buSzPct val="30919"/>
              <a:buFont typeface="Arial"/>
              <a:buNone/>
            </a:pPr>
            <a:r>
              <a:rPr lang="en-GB" sz="3558">
                <a:solidFill>
                  <a:schemeClr val="dk1"/>
                </a:solidFill>
              </a:rPr>
              <a:t>  chat_message_id STRING OPTIONS(description="The ID of the Google Chat message"),</a:t>
            </a:r>
            <a:endParaRPr sz="3558">
              <a:solidFill>
                <a:schemeClr val="dk1"/>
              </a:solidFill>
            </a:endParaRPr>
          </a:p>
          <a:p>
            <a:pPr indent="0" lvl="0" marL="0" rtl="0" algn="l">
              <a:spcBef>
                <a:spcPts val="1200"/>
              </a:spcBef>
              <a:spcAft>
                <a:spcPts val="0"/>
              </a:spcAft>
              <a:buClr>
                <a:schemeClr val="dk1"/>
              </a:buClr>
              <a:buSzPct val="30919"/>
              <a:buFont typeface="Arial"/>
              <a:buNone/>
            </a:pPr>
            <a:r>
              <a:rPr lang="en-GB" sz="3558">
                <a:solidFill>
                  <a:schemeClr val="dk1"/>
                </a:solidFill>
              </a:rPr>
              <a:t>  handled_by STRING OPTIONS(description="The email of the engineer who took action")</a:t>
            </a:r>
            <a:endParaRPr sz="3558">
              <a:solidFill>
                <a:schemeClr val="dk1"/>
              </a:solidFill>
            </a:endParaRPr>
          </a:p>
          <a:p>
            <a:pPr indent="0" lvl="0" marL="0" rtl="0" algn="l">
              <a:spcBef>
                <a:spcPts val="1200"/>
              </a:spcBef>
              <a:spcAft>
                <a:spcPts val="0"/>
              </a:spcAft>
              <a:buClr>
                <a:schemeClr val="dk1"/>
              </a:buClr>
              <a:buSzPct val="30919"/>
              <a:buFont typeface="Arial"/>
              <a:buNone/>
            </a:pPr>
            <a:r>
              <a:rPr lang="en-GB" sz="3558">
                <a:solidFill>
                  <a:schemeClr val="dk1"/>
                </a:solidFill>
              </a:rPr>
              <a:t>)</a:t>
            </a:r>
            <a:endParaRPr sz="3558">
              <a:solidFill>
                <a:schemeClr val="dk1"/>
              </a:solidFill>
            </a:endParaRPr>
          </a:p>
          <a:p>
            <a:pPr indent="0" lvl="0" marL="0" rtl="0" algn="l">
              <a:spcBef>
                <a:spcPts val="1200"/>
              </a:spcBef>
              <a:spcAft>
                <a:spcPts val="0"/>
              </a:spcAft>
              <a:buClr>
                <a:schemeClr val="dk1"/>
              </a:buClr>
              <a:buSzPct val="30919"/>
              <a:buFont typeface="Arial"/>
              <a:buNone/>
            </a:pPr>
            <a:r>
              <a:rPr lang="en-GB" sz="3558">
                <a:solidFill>
                  <a:srgbClr val="9900FF"/>
                </a:solidFill>
              </a:rPr>
              <a:t>PARTITION BY DATE</a:t>
            </a:r>
            <a:r>
              <a:rPr lang="en-GB" sz="3558">
                <a:solidFill>
                  <a:schemeClr val="dk1"/>
                </a:solidFill>
              </a:rPr>
              <a:t>(created_at);</a:t>
            </a:r>
            <a:endParaRPr sz="3558">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Notes</a:t>
            </a:r>
            <a:endParaRPr/>
          </a:p>
        </p:txBody>
      </p:sp>
      <p:sp>
        <p:nvSpPr>
          <p:cNvPr id="120" name="Google Shape;120;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Clr>
                <a:schemeClr val="dk1"/>
              </a:buClr>
              <a:buSzPct val="122222"/>
              <a:buFont typeface="Arial"/>
              <a:buNone/>
            </a:pPr>
            <a:r>
              <a:rPr lang="en-GB" sz="900">
                <a:solidFill>
                  <a:schemeClr val="dk1"/>
                </a:solidFill>
              </a:rPr>
              <a:t>Vertex AI to clean SCC logs</a:t>
            </a:r>
            <a:endParaRPr sz="900">
              <a:solidFill>
                <a:schemeClr val="dk1"/>
              </a:solidFill>
            </a:endParaRPr>
          </a:p>
          <a:p>
            <a:pPr indent="0" lvl="0" marL="0" rtl="0" algn="l">
              <a:spcBef>
                <a:spcPts val="1200"/>
              </a:spcBef>
              <a:spcAft>
                <a:spcPts val="0"/>
              </a:spcAft>
              <a:buClr>
                <a:schemeClr val="dk1"/>
              </a:buClr>
              <a:buSzPct val="122222"/>
              <a:buFont typeface="Arial"/>
              <a:buNone/>
            </a:pPr>
            <a:r>
              <a:t/>
            </a:r>
            <a:endParaRPr sz="900">
              <a:solidFill>
                <a:schemeClr val="dk1"/>
              </a:solidFill>
            </a:endParaRPr>
          </a:p>
          <a:p>
            <a:pPr indent="0" lvl="0" marL="0" rtl="0" algn="l">
              <a:spcBef>
                <a:spcPts val="0"/>
              </a:spcBef>
              <a:spcAft>
                <a:spcPts val="0"/>
              </a:spcAft>
              <a:buClr>
                <a:schemeClr val="dk1"/>
              </a:buClr>
              <a:buSzPct val="122222"/>
              <a:buFont typeface="Arial"/>
              <a:buNone/>
            </a:pPr>
            <a:r>
              <a:rPr lang="en-GB" sz="900">
                <a:solidFill>
                  <a:schemeClr val="dk1"/>
                </a:solidFill>
              </a:rPr>
              <a:t>agent for recursive code corrections</a:t>
            </a:r>
            <a:endParaRPr sz="900">
              <a:solidFill>
                <a:schemeClr val="dk1"/>
              </a:solidFill>
            </a:endParaRPr>
          </a:p>
          <a:p>
            <a:pPr indent="0" lvl="0" marL="0" rtl="0" algn="l">
              <a:spcBef>
                <a:spcPts val="0"/>
              </a:spcBef>
              <a:spcAft>
                <a:spcPts val="0"/>
              </a:spcAft>
              <a:buClr>
                <a:schemeClr val="dk1"/>
              </a:buClr>
              <a:buSzPct val="122222"/>
              <a:buFont typeface="Arial"/>
              <a:buNone/>
            </a:pPr>
            <a:r>
              <a:rPr lang="en-GB" sz="900">
                <a:solidFill>
                  <a:schemeClr val="dk1"/>
                </a:solidFill>
              </a:rPr>
              <a:t>agent with a couple tools</a:t>
            </a:r>
            <a:endParaRPr sz="900">
              <a:solidFill>
                <a:schemeClr val="dk1"/>
              </a:solidFill>
            </a:endParaRPr>
          </a:p>
          <a:p>
            <a:pPr indent="0" lvl="0" marL="0" rtl="0" algn="l">
              <a:spcBef>
                <a:spcPts val="0"/>
              </a:spcBef>
              <a:spcAft>
                <a:spcPts val="0"/>
              </a:spcAft>
              <a:buClr>
                <a:schemeClr val="dk1"/>
              </a:buClr>
              <a:buSzPct val="122222"/>
              <a:buFont typeface="Arial"/>
              <a:buNone/>
            </a:pPr>
            <a:r>
              <a:t/>
            </a:r>
            <a:endParaRPr sz="900">
              <a:solidFill>
                <a:schemeClr val="dk1"/>
              </a:solidFill>
            </a:endParaRPr>
          </a:p>
          <a:p>
            <a:pPr indent="0" lvl="0" marL="0" rtl="0" algn="l">
              <a:spcBef>
                <a:spcPts val="0"/>
              </a:spcBef>
              <a:spcAft>
                <a:spcPts val="0"/>
              </a:spcAft>
              <a:buClr>
                <a:schemeClr val="dk1"/>
              </a:buClr>
              <a:buSzPct val="122222"/>
              <a:buFont typeface="Arial"/>
              <a:buNone/>
            </a:pPr>
            <a:r>
              <a:rPr lang="en-GB" sz="900">
                <a:solidFill>
                  <a:schemeClr val="dk1"/>
                </a:solidFill>
              </a:rPr>
              <a:t>Big query canvas not looker</a:t>
            </a:r>
            <a:endParaRPr sz="900">
              <a:solidFill>
                <a:schemeClr val="dk1"/>
              </a:solidFill>
            </a:endParaRPr>
          </a:p>
          <a:p>
            <a:pPr indent="0" lvl="0" marL="0" rtl="0" algn="l">
              <a:spcBef>
                <a:spcPts val="0"/>
              </a:spcBef>
              <a:spcAft>
                <a:spcPts val="0"/>
              </a:spcAft>
              <a:buClr>
                <a:schemeClr val="dk1"/>
              </a:buClr>
              <a:buSzPct val="122222"/>
              <a:buFont typeface="Arial"/>
              <a:buNone/>
            </a:pPr>
            <a:r>
              <a:t/>
            </a:r>
            <a:endParaRPr sz="900">
              <a:solidFill>
                <a:schemeClr val="dk1"/>
              </a:solidFill>
            </a:endParaRPr>
          </a:p>
          <a:p>
            <a:pPr indent="0" lvl="0" marL="0" rtl="0" algn="l">
              <a:spcBef>
                <a:spcPts val="0"/>
              </a:spcBef>
              <a:spcAft>
                <a:spcPts val="0"/>
              </a:spcAft>
              <a:buClr>
                <a:schemeClr val="dk1"/>
              </a:buClr>
              <a:buSzPct val="122222"/>
              <a:buFont typeface="Arial"/>
              <a:buNone/>
            </a:pPr>
            <a:r>
              <a:rPr lang="en-GB" sz="900">
                <a:solidFill>
                  <a:schemeClr val="dk1"/>
                </a:solidFill>
              </a:rPr>
              <a:t>high level goals (by the end of the week have map/gitops integration) for me</a:t>
            </a:r>
            <a:endParaRPr sz="900">
              <a:solidFill>
                <a:schemeClr val="dk1"/>
              </a:solidFill>
            </a:endParaRPr>
          </a:p>
          <a:p>
            <a:pPr indent="0" lvl="0" marL="0" rtl="0" algn="l">
              <a:spcBef>
                <a:spcPts val="0"/>
              </a:spcBef>
              <a:spcAft>
                <a:spcPts val="0"/>
              </a:spcAft>
              <a:buClr>
                <a:schemeClr val="dk1"/>
              </a:buClr>
              <a:buSzPct val="122222"/>
              <a:buFont typeface="Arial"/>
              <a:buNone/>
            </a:pPr>
            <a:r>
              <a:rPr lang="en-GB" sz="900">
                <a:solidFill>
                  <a:schemeClr val="dk1"/>
                </a:solidFill>
              </a:rPr>
              <a:t>higher level goals for management</a:t>
            </a:r>
            <a:endParaRPr sz="900">
              <a:solidFill>
                <a:schemeClr val="dk1"/>
              </a:solidFill>
            </a:endParaRPr>
          </a:p>
          <a:p>
            <a:pPr indent="0" lvl="0" marL="0" rtl="0" algn="l">
              <a:spcBef>
                <a:spcPts val="0"/>
              </a:spcBef>
              <a:spcAft>
                <a:spcPts val="0"/>
              </a:spcAft>
              <a:buClr>
                <a:schemeClr val="dk1"/>
              </a:buClr>
              <a:buSzPct val="122222"/>
              <a:buFont typeface="Arial"/>
              <a:buNone/>
            </a:pPr>
            <a:r>
              <a:t/>
            </a:r>
            <a:endParaRPr sz="900">
              <a:solidFill>
                <a:schemeClr val="dk1"/>
              </a:solidFill>
            </a:endParaRPr>
          </a:p>
          <a:p>
            <a:pPr indent="0" lvl="0" marL="0" rtl="0" algn="l">
              <a:spcBef>
                <a:spcPts val="0"/>
              </a:spcBef>
              <a:spcAft>
                <a:spcPts val="0"/>
              </a:spcAft>
              <a:buClr>
                <a:schemeClr val="dk1"/>
              </a:buClr>
              <a:buSzPct val="122222"/>
              <a:buFont typeface="Arial"/>
              <a:buNone/>
            </a:pPr>
            <a:r>
              <a:rPr lang="en-GB" sz="900">
                <a:solidFill>
                  <a:schemeClr val="dk1"/>
                </a:solidFill>
              </a:rPr>
              <a:t>ANTIGRAV</a:t>
            </a:r>
            <a:endParaRPr sz="900">
              <a:solidFill>
                <a:schemeClr val="dk1"/>
              </a:solidFill>
            </a:endParaRPr>
          </a:p>
          <a:p>
            <a:pPr indent="0" lvl="0" marL="0" rtl="0" algn="l">
              <a:spcBef>
                <a:spcPts val="0"/>
              </a:spcBef>
              <a:spcAft>
                <a:spcPts val="0"/>
              </a:spcAft>
              <a:buClr>
                <a:schemeClr val="dk1"/>
              </a:buClr>
              <a:buSzPct val="122222"/>
              <a:buFont typeface="Arial"/>
              <a:buNone/>
            </a:pPr>
            <a:r>
              <a:rPr lang="en-GB" sz="900">
                <a:solidFill>
                  <a:schemeClr val="dk1"/>
                </a:solidFill>
              </a:rPr>
              <a:t>is this the right thing</a:t>
            </a:r>
            <a:endParaRPr sz="900">
              <a:solidFill>
                <a:schemeClr val="dk1"/>
              </a:solidFill>
            </a:endParaRPr>
          </a:p>
          <a:p>
            <a:pPr indent="0" lvl="0" marL="0" rtl="0" algn="l">
              <a:spcBef>
                <a:spcPts val="0"/>
              </a:spcBef>
              <a:spcAft>
                <a:spcPts val="0"/>
              </a:spcAft>
              <a:buClr>
                <a:schemeClr val="dk1"/>
              </a:buClr>
              <a:buSzPct val="122222"/>
              <a:buFont typeface="Arial"/>
              <a:buNone/>
            </a:pPr>
            <a:r>
              <a:rPr lang="en-GB" sz="900">
                <a:solidFill>
                  <a:schemeClr val="dk1"/>
                </a:solidFill>
              </a:rPr>
              <a:t>ratelogs for risk</a:t>
            </a:r>
            <a:endParaRPr sz="900">
              <a:solidFill>
                <a:schemeClr val="dk1"/>
              </a:solidFill>
            </a:endParaRPr>
          </a:p>
          <a:p>
            <a:pPr indent="0" lvl="0" marL="0" rtl="0" algn="l">
              <a:spcBef>
                <a:spcPts val="0"/>
              </a:spcBef>
              <a:spcAft>
                <a:spcPts val="0"/>
              </a:spcAft>
              <a:buClr>
                <a:schemeClr val="dk1"/>
              </a:buClr>
              <a:buSzPct val="122222"/>
              <a:buFont typeface="Arial"/>
              <a:buNone/>
            </a:pPr>
            <a:r>
              <a:rPr lang="en-GB" sz="900">
                <a:solidFill>
                  <a:schemeClr val="dk1"/>
                </a:solidFill>
              </a:rPr>
              <a:t>s/w</a:t>
            </a:r>
            <a:endParaRPr sz="900">
              <a:solidFill>
                <a:schemeClr val="dk1"/>
              </a:solidFill>
            </a:endParaRPr>
          </a:p>
          <a:p>
            <a:pPr indent="0" lvl="0" marL="0" rtl="0" algn="l">
              <a:spcBef>
                <a:spcPts val="0"/>
              </a:spcBef>
              <a:spcAft>
                <a:spcPts val="0"/>
              </a:spcAft>
              <a:buClr>
                <a:schemeClr val="dk1"/>
              </a:buClr>
              <a:buSzPct val="122222"/>
              <a:buFont typeface="Arial"/>
              <a:buNone/>
            </a:pPr>
            <a:r>
              <a:rPr lang="en-GB" sz="900">
                <a:solidFill>
                  <a:schemeClr val="dk1"/>
                </a:solidFill>
              </a:rPr>
              <a:t>help with timelines</a:t>
            </a:r>
            <a:endParaRPr sz="900">
              <a:solidFill>
                <a:schemeClr val="dk1"/>
              </a:solidFill>
            </a:endParaRPr>
          </a:p>
          <a:p>
            <a:pPr indent="0" lvl="0" marL="0" rtl="0" algn="l">
              <a:spcBef>
                <a:spcPts val="0"/>
              </a:spcBef>
              <a:spcAft>
                <a:spcPts val="0"/>
              </a:spcAft>
              <a:buClr>
                <a:schemeClr val="dk1"/>
              </a:buClr>
              <a:buSzPct val="122222"/>
              <a:buFont typeface="Arial"/>
              <a:buNone/>
            </a:pPr>
            <a:r>
              <a:t/>
            </a:r>
            <a:endParaRPr sz="900">
              <a:solidFill>
                <a:schemeClr val="dk1"/>
              </a:solidFill>
            </a:endParaRPr>
          </a:p>
          <a:p>
            <a:pPr indent="0" lvl="0" marL="0" rtl="0" algn="l">
              <a:spcBef>
                <a:spcPts val="0"/>
              </a:spcBef>
              <a:spcAft>
                <a:spcPts val="0"/>
              </a:spcAft>
              <a:buClr>
                <a:schemeClr val="dk1"/>
              </a:buClr>
              <a:buSzPct val="122222"/>
              <a:buFont typeface="Arial"/>
              <a:buNone/>
            </a:pPr>
            <a:r>
              <a:rPr lang="en-GB" sz="900">
                <a:solidFill>
                  <a:schemeClr val="dk1"/>
                </a:solidFill>
              </a:rPr>
              <a:t>KNOW WHAT SCC CAN DO</a:t>
            </a:r>
            <a:endParaRPr sz="900">
              <a:solidFill>
                <a:schemeClr val="dk1"/>
              </a:solidFill>
            </a:endParaRPr>
          </a:p>
          <a:p>
            <a:pPr indent="0" lvl="0" marL="0" rtl="0" algn="l">
              <a:spcBef>
                <a:spcPts val="0"/>
              </a:spcBef>
              <a:spcAft>
                <a:spcPts val="1200"/>
              </a:spcAft>
              <a:buNone/>
            </a:pPr>
            <a:r>
              <a:rPr lang="en-GB"/>
              <a:t>For this week, I want you to set up a folder and drive and put everything you require into it so we can share the details there. Also, research SCC thoroughly on how to start integrating and exporting it, and how that works. Remind me to start building a project on GCP. For yourself, use anti-gravity to create a risk log that simulates the reality of an actual project. Then, create two high-level diagrams: one for the actual presentation, showcasing the high-level stuff like research, and another for the building steps. Finally, create a slightly lower-level diagram for you to do on a daily or weekly basis.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imeline Theme">
  <a:themeElements>
    <a:clrScheme name="DfT_Set 1">
      <a:dk1>
        <a:srgbClr val="161616"/>
      </a:dk1>
      <a:lt1>
        <a:srgbClr val="FFFFFF"/>
      </a:lt1>
      <a:dk2>
        <a:srgbClr val="161616"/>
      </a:dk2>
      <a:lt2>
        <a:srgbClr val="EEF1F2"/>
      </a:lt2>
      <a:accent1>
        <a:srgbClr val="006853"/>
      </a:accent1>
      <a:accent2>
        <a:srgbClr val="1DE9B6"/>
      </a:accent2>
      <a:accent3>
        <a:srgbClr val="15B542"/>
      </a:accent3>
      <a:accent4>
        <a:srgbClr val="161616"/>
      </a:accent4>
      <a:accent5>
        <a:srgbClr val="EEF1F2"/>
      </a:accent5>
      <a:accent6>
        <a:srgbClr val="626262"/>
      </a:accent6>
      <a:hlink>
        <a:srgbClr val="0082CA"/>
      </a:hlink>
      <a:folHlink>
        <a:srgbClr val="006AB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