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Lst>
  <p:sldSz cy="5143500" cx="9144000"/>
  <p:notesSz cx="6858000" cy="9144000"/>
  <p:embeddedFontLst>
    <p:embeddedFont>
      <p:font typeface="Poppins"/>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7A2E053-07E2-4560-9BDE-82A63B5185E3}">
  <a:tblStyle styleId="{37A2E053-07E2-4560-9BDE-82A63B5185E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font" Target="fonts/Poppins-regular.fntdata"/><Relationship Id="rId14" Type="http://schemas.openxmlformats.org/officeDocument/2006/relationships/slide" Target="slides/slide7.xml"/><Relationship Id="rId17" Type="http://schemas.openxmlformats.org/officeDocument/2006/relationships/font" Target="fonts/Poppins-italic.fntdata"/><Relationship Id="rId16" Type="http://schemas.openxmlformats.org/officeDocument/2006/relationships/font" Target="fonts/Poppins-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18" Type="http://schemas.openxmlformats.org/officeDocument/2006/relationships/font" Target="fonts/Poppins-boldItalic.fntdata"/><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h54a6c85cd84846d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h54a6c85cd84846d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54a6c85cd84846d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h54a6c85cd84846d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54a6c85cd84846d0_15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h54a6c85cd84846d0_15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Justin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h54a6c85cd84846d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h54a6c85cd84846d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h54a6c85cd84846d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h54a6c85cd84846d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54a6c85cd84846d0_15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h54a6c85cd84846d0_15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14"/>
          <p:cNvSpPr txBox="1"/>
          <p:nvPr>
            <p:ph type="title"/>
          </p:nvPr>
        </p:nvSpPr>
        <p:spPr>
          <a:xfrm>
            <a:off x="313200" y="216000"/>
            <a:ext cx="8521200" cy="7755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0E115F"/>
              </a:buClr>
              <a:buSzPts val="14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2.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3200" y="216000"/>
            <a:ext cx="8521200" cy="7755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rgbClr val="0E115F"/>
              </a:buClr>
              <a:buSzPts val="2600"/>
              <a:buFont typeface="Arial"/>
              <a:buNone/>
              <a:defRPr b="1" i="0" sz="2600" u="none" cap="none" strike="noStrike">
                <a:solidFill>
                  <a:srgbClr val="0E115F"/>
                </a:solidFill>
                <a:latin typeface="Arial"/>
                <a:ea typeface="Arial"/>
                <a:cs typeface="Arial"/>
                <a:sym typeface="Arial"/>
              </a:defRPr>
            </a:lvl1pPr>
            <a:lvl2pPr lvl="1" marR="0" algn="l">
              <a:lnSpc>
                <a:spcPct val="100000"/>
              </a:lnSpc>
              <a:spcBef>
                <a:spcPts val="0"/>
              </a:spcBef>
              <a:spcAft>
                <a:spcPts val="0"/>
              </a:spcAft>
              <a:buClr>
                <a:srgbClr val="000000"/>
              </a:buClr>
              <a:buSzPts val="2600"/>
              <a:buFont typeface="Arial"/>
              <a:buNone/>
              <a:defRPr b="0" i="0" sz="26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600"/>
              <a:buFont typeface="Arial"/>
              <a:buNone/>
              <a:defRPr b="0" i="0" sz="26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600"/>
              <a:buFont typeface="Arial"/>
              <a:buNone/>
              <a:defRPr b="0" i="0" sz="26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600"/>
              <a:buFont typeface="Arial"/>
              <a:buNone/>
              <a:defRPr b="0" i="0" sz="26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600"/>
              <a:buFont typeface="Arial"/>
              <a:buNone/>
              <a:defRPr b="0" i="0" sz="26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600"/>
              <a:buFont typeface="Arial"/>
              <a:buNone/>
              <a:defRPr b="0" i="0" sz="26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600"/>
              <a:buFont typeface="Arial"/>
              <a:buNone/>
              <a:defRPr b="0" i="0" sz="26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600"/>
              <a:buFont typeface="Arial"/>
              <a:buNone/>
              <a:defRPr b="0" i="0" sz="2600" u="none" cap="none" strike="noStrike">
                <a:solidFill>
                  <a:srgbClr val="000000"/>
                </a:solidFill>
                <a:latin typeface="Arial"/>
                <a:ea typeface="Arial"/>
                <a:cs typeface="Arial"/>
                <a:sym typeface="Arial"/>
              </a:defRPr>
            </a:lvl9pPr>
          </a:lstStyle>
          <a:p/>
        </p:txBody>
      </p:sp>
      <p:sp>
        <p:nvSpPr>
          <p:cNvPr id="52" name="Google Shape;52;p13"/>
          <p:cNvSpPr txBox="1"/>
          <p:nvPr>
            <p:ph idx="10" type="dt"/>
          </p:nvPr>
        </p:nvSpPr>
        <p:spPr>
          <a:xfrm>
            <a:off x="278606" y="5416701"/>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98989"/>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1" type="ftr"/>
          </p:nvPr>
        </p:nvSpPr>
        <p:spPr>
          <a:xfrm>
            <a:off x="2219818" y="4773796"/>
            <a:ext cx="4707300" cy="135600"/>
          </a:xfrm>
          <a:prstGeom prst="rect">
            <a:avLst/>
          </a:prstGeom>
          <a:noFill/>
          <a:ln>
            <a:noFill/>
          </a:ln>
        </p:spPr>
        <p:txBody>
          <a:bodyPr anchorCtr="0" anchor="ctr" bIns="0" lIns="0" spcFirstLastPara="1" rIns="0" wrap="square" tIns="0">
            <a:noAutofit/>
          </a:bodyPr>
          <a:lstStyle>
            <a:lvl1pPr lvl="0" marR="0" algn="ctr">
              <a:lnSpc>
                <a:spcPct val="100000"/>
              </a:lnSpc>
              <a:spcBef>
                <a:spcPts val="0"/>
              </a:spcBef>
              <a:spcAft>
                <a:spcPts val="0"/>
              </a:spcAft>
              <a:buClr>
                <a:srgbClr val="000000"/>
              </a:buClr>
              <a:buSzPts val="1100"/>
              <a:buFont typeface="Arial"/>
              <a:buNone/>
              <a:defRPr b="0" i="0" sz="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2" type="sldNum"/>
          </p:nvPr>
        </p:nvSpPr>
        <p:spPr>
          <a:xfrm>
            <a:off x="6807992" y="5392529"/>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55" name="Google Shape;55;p13"/>
          <p:cNvPicPr preferRelativeResize="0"/>
          <p:nvPr/>
        </p:nvPicPr>
        <p:blipFill rotWithShape="1">
          <a:blip r:embed="rId1">
            <a:alphaModFix/>
          </a:blip>
          <a:srcRect b="0" l="0" r="0" t="0"/>
          <a:stretch/>
        </p:blipFill>
        <p:spPr>
          <a:xfrm>
            <a:off x="8204100" y="4722425"/>
            <a:ext cx="749195" cy="325188"/>
          </a:xfrm>
          <a:prstGeom prst="rect">
            <a:avLst/>
          </a:prstGeom>
          <a:noFill/>
          <a:ln>
            <a:noFill/>
          </a:ln>
        </p:spPr>
      </p:pic>
      <p:sp>
        <p:nvSpPr>
          <p:cNvPr id="56" name="Google Shape;56;p13"/>
          <p:cNvSpPr txBox="1"/>
          <p:nvPr>
            <p:ph idx="1" type="body"/>
          </p:nvPr>
        </p:nvSpPr>
        <p:spPr>
          <a:xfrm>
            <a:off x="278606" y="1455233"/>
            <a:ext cx="8586900" cy="2916600"/>
          </a:xfrm>
          <a:prstGeom prst="rect">
            <a:avLst/>
          </a:prstGeom>
          <a:noFill/>
          <a:ln>
            <a:noFill/>
          </a:ln>
        </p:spPr>
        <p:txBody>
          <a:bodyPr anchorCtr="0" anchor="t" bIns="0" lIns="0" spcFirstLastPara="1" rIns="0" wrap="square" tIns="0">
            <a:noAutofit/>
          </a:bodyPr>
          <a:lstStyle>
            <a:lvl1pPr indent="-323850" lvl="0" marL="457200" marR="0" algn="l">
              <a:lnSpc>
                <a:spcPct val="100000"/>
              </a:lnSpc>
              <a:spcBef>
                <a:spcPts val="0"/>
              </a:spcBef>
              <a:spcAft>
                <a:spcPts val="0"/>
              </a:spcAft>
              <a:buClr>
                <a:srgbClr val="006AB0"/>
              </a:buClr>
              <a:buSzPts val="1500"/>
              <a:buFont typeface="Arial"/>
              <a:buChar char="●"/>
              <a:defRPr b="0" i="0" sz="1400" u="none" cap="none" strike="noStrike">
                <a:solidFill>
                  <a:srgbClr val="000000"/>
                </a:solidFill>
                <a:latin typeface="Arial"/>
                <a:ea typeface="Arial"/>
                <a:cs typeface="Arial"/>
                <a:sym typeface="Arial"/>
              </a:defRPr>
            </a:lvl1pPr>
            <a:lvl2pPr indent="-323850" lvl="1" marL="914400" marR="0" algn="l">
              <a:lnSpc>
                <a:spcPct val="90000"/>
              </a:lnSpc>
              <a:spcBef>
                <a:spcPts val="400"/>
              </a:spcBef>
              <a:spcAft>
                <a:spcPts val="0"/>
              </a:spcAft>
              <a:buClr>
                <a:schemeClr val="dk1"/>
              </a:buClr>
              <a:buSzPts val="1500"/>
              <a:buFont typeface="Arial"/>
              <a:buChar char="○"/>
              <a:defRPr b="0" i="0" sz="1400" u="none" cap="none" strike="noStrike">
                <a:solidFill>
                  <a:srgbClr val="000000"/>
                </a:solidFill>
                <a:latin typeface="Arial"/>
                <a:ea typeface="Arial"/>
                <a:cs typeface="Arial"/>
                <a:sym typeface="Arial"/>
              </a:defRPr>
            </a:lvl2pPr>
            <a:lvl3pPr indent="-317500" lvl="2" marL="1371600" marR="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3pPr>
            <a:lvl4pPr indent="-323850" lvl="3" marL="1828800" marR="0" algn="l">
              <a:lnSpc>
                <a:spcPct val="90000"/>
              </a:lnSpc>
              <a:spcBef>
                <a:spcPts val="400"/>
              </a:spcBef>
              <a:spcAft>
                <a:spcPts val="0"/>
              </a:spcAft>
              <a:buClr>
                <a:schemeClr val="dk1"/>
              </a:buClr>
              <a:buSzPts val="1500"/>
              <a:buFont typeface="Arial"/>
              <a:buChar char="●"/>
              <a:defRPr b="0" i="0" sz="1400" u="none" cap="none" strike="noStrike">
                <a:solidFill>
                  <a:srgbClr val="000000"/>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75">
          <p15:clr>
            <a:srgbClr val="F26B43"/>
          </p15:clr>
        </p15:guide>
        <p15:guide id="2" pos="5585">
          <p15:clr>
            <a:srgbClr val="F26B43"/>
          </p15:clr>
        </p15:guide>
        <p15:guide id="3" pos="2880">
          <p15:clr>
            <a:srgbClr val="F26B43"/>
          </p15:clr>
        </p15:guide>
        <p15:guide id="4" orient="horz" pos="3078">
          <p15:clr>
            <a:srgbClr val="F26B43"/>
          </p15:clr>
        </p15:guide>
        <p15:guide id="5" orient="horz" pos="915">
          <p15:clr>
            <a:srgbClr val="F26B43"/>
          </p15:clr>
        </p15:guide>
        <p15:guide id="6" orient="horz" pos="27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CloudGuard Agent</a:t>
            </a:r>
            <a:endParaRPr/>
          </a:p>
        </p:txBody>
      </p:sp>
      <p:sp>
        <p:nvSpPr>
          <p:cNvPr id="64" name="Google Shape;64;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25000" lnSpcReduction="20000"/>
          </a:bodyPr>
          <a:lstStyle/>
          <a:p>
            <a:pPr indent="0" lvl="0" marL="0" rtl="0" algn="l">
              <a:lnSpc>
                <a:spcPct val="115000"/>
              </a:lnSpc>
              <a:spcBef>
                <a:spcPts val="0"/>
              </a:spcBef>
              <a:spcAft>
                <a:spcPts val="0"/>
              </a:spcAft>
              <a:buClr>
                <a:schemeClr val="dk1"/>
              </a:buClr>
              <a:buSzPct val="27363"/>
              <a:buFont typeface="Arial"/>
              <a:buNone/>
            </a:pPr>
            <a:r>
              <a:rPr lang="en-GB" sz="4020">
                <a:solidFill>
                  <a:schemeClr val="dk1"/>
                </a:solidFill>
              </a:rPr>
              <a:t>This project delivers an AI-powered security remediation pipeline that captures Security Command Center alerts, logs them to BigQuery for compliance auditing, and uses Firestore to seamlessly deduplicate notifications. When a vulnerability is detected, Vertex AI automatically translates the threat into deployable Terraform code and presents it to engineers via an interactive Google Chat alert. By allowing engineers to resolve the issue with one click via an automated GitOps Pull Request, this solution drastically reduces response times while enforcing strict infrastructure-as-code controls.</a:t>
            </a:r>
            <a:endParaRPr sz="4020">
              <a:solidFill>
                <a:schemeClr val="dk1"/>
              </a:solidFill>
            </a:endParaRPr>
          </a:p>
          <a:p>
            <a:pPr indent="0" lvl="0" marL="0" rtl="0" algn="l">
              <a:lnSpc>
                <a:spcPct val="115000"/>
              </a:lnSpc>
              <a:spcBef>
                <a:spcPts val="0"/>
              </a:spcBef>
              <a:spcAft>
                <a:spcPts val="0"/>
              </a:spcAft>
              <a:buClr>
                <a:schemeClr val="dk1"/>
              </a:buClr>
              <a:buSzPct val="100000"/>
              <a:buFont typeface="Arial"/>
              <a:buNone/>
            </a:pPr>
            <a:r>
              <a:t/>
            </a:r>
            <a:endParaRPr sz="1100">
              <a:solidFill>
                <a:schemeClr val="dk1"/>
              </a:solidFill>
            </a:endParaRPr>
          </a:p>
          <a:p>
            <a:pPr indent="0" lvl="0" marL="0" rtl="0" algn="ctr">
              <a:spcBef>
                <a:spcPts val="0"/>
              </a:spcBef>
              <a:spcAft>
                <a:spcPts val="0"/>
              </a:spcAft>
              <a:buNone/>
            </a:pPr>
            <a:r>
              <a:t/>
            </a:r>
            <a:endParaRPr/>
          </a:p>
        </p:txBody>
      </p:sp>
      <p:sp>
        <p:nvSpPr>
          <p:cNvPr id="65" name="Google Shape;65;p15"/>
          <p:cNvSpPr txBox="1"/>
          <p:nvPr>
            <p:ph idx="1" type="subTitle"/>
          </p:nvPr>
        </p:nvSpPr>
        <p:spPr>
          <a:xfrm>
            <a:off x="311700" y="3803550"/>
            <a:ext cx="8520600" cy="7926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GB" sz="4020">
                <a:solidFill>
                  <a:schemeClr val="dk1"/>
                </a:solidFill>
              </a:rPr>
              <a:t>CloudGuard Agent is an autonomous cloud security assistant that turns Google Cloud Security Command Center (SCC) findings into instant, actionable decisions inside Google Chat. With Gemini analysing the threat, the agent drafts the well-thought suggestions and possible remediations. CloudGuard bridges threat detection and remediation from minutes to a single tap. Whether you need to deploy an automated Terraform fix via GitOps, assign a GitHub issue, or escalate to an owner, CloudGuard lets security and DevOps teams remediate risks in seconds directly from chat.</a:t>
            </a:r>
            <a:endParaRPr sz="4020">
              <a:solidFill>
                <a:schemeClr val="dk1"/>
              </a:solidFill>
            </a:endParaRPr>
          </a:p>
          <a:p>
            <a:pPr indent="0" lvl="0" marL="0" rtl="0" algn="l">
              <a:spcBef>
                <a:spcPts val="0"/>
              </a:spcBef>
              <a:spcAft>
                <a:spcPts val="0"/>
              </a:spcAft>
              <a:buNone/>
            </a:pPr>
            <a:r>
              <a:t/>
            </a:r>
            <a:endParaRPr sz="402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Architecture Diagram</a:t>
            </a:r>
            <a:endParaRPr/>
          </a:p>
        </p:txBody>
      </p:sp>
      <p:sp>
        <p:nvSpPr>
          <p:cNvPr id="71" name="Google Shape;71;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2" name="Google Shape;72;p16"/>
          <p:cNvPicPr preferRelativeResize="0"/>
          <p:nvPr/>
        </p:nvPicPr>
        <p:blipFill>
          <a:blip r:embed="rId3">
            <a:alphaModFix/>
          </a:blip>
          <a:stretch>
            <a:fillRect/>
          </a:stretch>
        </p:blipFill>
        <p:spPr>
          <a:xfrm>
            <a:off x="1289051" y="1152475"/>
            <a:ext cx="6565890" cy="3991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Gantt Chart</a:t>
            </a:r>
            <a:endParaRPr/>
          </a:p>
        </p:txBody>
      </p:sp>
      <p:sp>
        <p:nvSpPr>
          <p:cNvPr id="78" name="Google Shape;7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9" name="Google Shape;79;p17"/>
          <p:cNvPicPr preferRelativeResize="0"/>
          <p:nvPr/>
        </p:nvPicPr>
        <p:blipFill>
          <a:blip r:embed="rId3">
            <a:alphaModFix/>
          </a:blip>
          <a:stretch>
            <a:fillRect/>
          </a:stretch>
        </p:blipFill>
        <p:spPr>
          <a:xfrm>
            <a:off x="0" y="1986553"/>
            <a:ext cx="9144003" cy="212974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3200" y="216000"/>
            <a:ext cx="8521200" cy="669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GB"/>
              <a:t>Timeline Design</a:t>
            </a:r>
            <a:endParaRPr/>
          </a:p>
        </p:txBody>
      </p:sp>
      <p:graphicFrame>
        <p:nvGraphicFramePr>
          <p:cNvPr id="85" name="Google Shape;85;p18"/>
          <p:cNvGraphicFramePr/>
          <p:nvPr/>
        </p:nvGraphicFramePr>
        <p:xfrm>
          <a:off x="595355" y="1811862"/>
          <a:ext cx="3000000" cy="3000000"/>
        </p:xfrm>
        <a:graphic>
          <a:graphicData uri="http://schemas.openxmlformats.org/drawingml/2006/table">
            <a:tbl>
              <a:tblPr>
                <a:noFill/>
                <a:tableStyleId>{37A2E053-07E2-4560-9BDE-82A63B5185E3}</a:tableStyleId>
              </a:tblPr>
              <a:tblGrid>
                <a:gridCol w="1148000"/>
                <a:gridCol w="1148000"/>
                <a:gridCol w="1148000"/>
                <a:gridCol w="1148000"/>
                <a:gridCol w="1148000"/>
                <a:gridCol w="1148000"/>
                <a:gridCol w="1148000"/>
              </a:tblGrid>
              <a:tr h="2621075">
                <a:tc>
                  <a:txBody>
                    <a:bodyPr/>
                    <a:lstStyle/>
                    <a:p>
                      <a:pPr indent="0" lvl="0" marL="0" rtl="0" algn="ctr">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c>
                  <a:txBody>
                    <a:bodyPr/>
                    <a:lstStyle/>
                    <a:p>
                      <a:pPr indent="0" lvl="0" marL="0" rtl="0" algn="l">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c>
                  <a:txBody>
                    <a:bodyPr/>
                    <a:lstStyle/>
                    <a:p>
                      <a:pPr indent="0" lvl="0" marL="0" rtl="0" algn="l">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c>
                  <a:txBody>
                    <a:bodyPr/>
                    <a:lstStyle/>
                    <a:p>
                      <a:pPr indent="0" lvl="0" marL="0" rtl="0" algn="l">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c>
                  <a:txBody>
                    <a:bodyPr/>
                    <a:lstStyle/>
                    <a:p>
                      <a:pPr indent="0" lvl="0" marL="0" rtl="0" algn="l">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c>
                  <a:txBody>
                    <a:bodyPr/>
                    <a:lstStyle/>
                    <a:p>
                      <a:pPr indent="0" lvl="0" marL="0" rtl="0" algn="l">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c>
                  <a:txBody>
                    <a:bodyPr/>
                    <a:lstStyle/>
                    <a:p>
                      <a:pPr indent="0" lvl="0" marL="0" rtl="0" algn="l">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r>
            </a:tbl>
          </a:graphicData>
        </a:graphic>
      </p:graphicFrame>
      <p:graphicFrame>
        <p:nvGraphicFramePr>
          <p:cNvPr id="86" name="Google Shape;86;p18"/>
          <p:cNvGraphicFramePr/>
          <p:nvPr/>
        </p:nvGraphicFramePr>
        <p:xfrm>
          <a:off x="591230" y="1491687"/>
          <a:ext cx="3000000" cy="3000000"/>
        </p:xfrm>
        <a:graphic>
          <a:graphicData uri="http://schemas.openxmlformats.org/drawingml/2006/table">
            <a:tbl>
              <a:tblPr>
                <a:noFill/>
                <a:tableStyleId>{37A2E053-07E2-4560-9BDE-82A63B5185E3}</a:tableStyleId>
              </a:tblPr>
              <a:tblGrid>
                <a:gridCol w="1148000"/>
                <a:gridCol w="1148000"/>
                <a:gridCol w="1148000"/>
                <a:gridCol w="1148000"/>
                <a:gridCol w="1148000"/>
                <a:gridCol w="1148000"/>
                <a:gridCol w="1148000"/>
              </a:tblGrid>
              <a:tr h="285750">
                <a:tc>
                  <a:txBody>
                    <a:bodyPr/>
                    <a:lstStyle/>
                    <a:p>
                      <a:pPr indent="0" lvl="0" marL="0" rtl="0" algn="ctr">
                        <a:spcBef>
                          <a:spcPts val="0"/>
                        </a:spcBef>
                        <a:spcAft>
                          <a:spcPts val="0"/>
                        </a:spcAft>
                        <a:buNone/>
                      </a:pPr>
                      <a:r>
                        <a:rPr b="1" lang="en-GB" sz="1000">
                          <a:solidFill>
                            <a:srgbClr val="FFFFFF"/>
                          </a:solidFill>
                        </a:rPr>
                        <a:t>WEEK 1</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c>
                  <a:txBody>
                    <a:bodyPr/>
                    <a:lstStyle/>
                    <a:p>
                      <a:pPr indent="0" lvl="0" marL="0" rtl="0" algn="ctr">
                        <a:spcBef>
                          <a:spcPts val="0"/>
                        </a:spcBef>
                        <a:spcAft>
                          <a:spcPts val="0"/>
                        </a:spcAft>
                        <a:buNone/>
                      </a:pPr>
                      <a:r>
                        <a:rPr b="1" lang="en-GB" sz="1000">
                          <a:solidFill>
                            <a:srgbClr val="FFFFFF"/>
                          </a:solidFill>
                        </a:rPr>
                        <a:t>WEEK 2</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c>
                  <a:txBody>
                    <a:bodyPr/>
                    <a:lstStyle/>
                    <a:p>
                      <a:pPr indent="0" lvl="0" marL="0" rtl="0" algn="ctr">
                        <a:spcBef>
                          <a:spcPts val="0"/>
                        </a:spcBef>
                        <a:spcAft>
                          <a:spcPts val="0"/>
                        </a:spcAft>
                        <a:buNone/>
                      </a:pPr>
                      <a:r>
                        <a:rPr b="1" lang="en-GB" sz="1000">
                          <a:solidFill>
                            <a:srgbClr val="FFFFFF"/>
                          </a:solidFill>
                        </a:rPr>
                        <a:t>WEEK 3</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c>
                  <a:txBody>
                    <a:bodyPr/>
                    <a:lstStyle/>
                    <a:p>
                      <a:pPr indent="0" lvl="0" marL="0" rtl="0" algn="ctr">
                        <a:spcBef>
                          <a:spcPts val="0"/>
                        </a:spcBef>
                        <a:spcAft>
                          <a:spcPts val="0"/>
                        </a:spcAft>
                        <a:buNone/>
                      </a:pPr>
                      <a:r>
                        <a:rPr b="1" lang="en-GB" sz="1000">
                          <a:solidFill>
                            <a:srgbClr val="FFFFFF"/>
                          </a:solidFill>
                        </a:rPr>
                        <a:t>WEEK 4</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c>
                  <a:txBody>
                    <a:bodyPr/>
                    <a:lstStyle/>
                    <a:p>
                      <a:pPr indent="0" lvl="0" marL="0" rtl="0" algn="ctr">
                        <a:spcBef>
                          <a:spcPts val="0"/>
                        </a:spcBef>
                        <a:spcAft>
                          <a:spcPts val="0"/>
                        </a:spcAft>
                        <a:buNone/>
                      </a:pPr>
                      <a:r>
                        <a:rPr b="1" lang="en-GB" sz="1000">
                          <a:solidFill>
                            <a:srgbClr val="FFFFFF"/>
                          </a:solidFill>
                        </a:rPr>
                        <a:t>WEEK 5</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c>
                  <a:txBody>
                    <a:bodyPr/>
                    <a:lstStyle/>
                    <a:p>
                      <a:pPr indent="0" lvl="0" marL="0" rtl="0" algn="ctr">
                        <a:spcBef>
                          <a:spcPts val="0"/>
                        </a:spcBef>
                        <a:spcAft>
                          <a:spcPts val="0"/>
                        </a:spcAft>
                        <a:buNone/>
                      </a:pPr>
                      <a:r>
                        <a:rPr b="1" lang="en-GB" sz="1000">
                          <a:solidFill>
                            <a:srgbClr val="FFFFFF"/>
                          </a:solidFill>
                        </a:rPr>
                        <a:t>WEEK 6</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c>
                  <a:txBody>
                    <a:bodyPr/>
                    <a:lstStyle/>
                    <a:p>
                      <a:pPr indent="0" lvl="0" marL="0" rtl="0" algn="ctr">
                        <a:spcBef>
                          <a:spcPts val="0"/>
                        </a:spcBef>
                        <a:spcAft>
                          <a:spcPts val="0"/>
                        </a:spcAft>
                        <a:buNone/>
                      </a:pPr>
                      <a:r>
                        <a:rPr b="1" lang="en-GB" sz="1000">
                          <a:solidFill>
                            <a:srgbClr val="FFFFFF"/>
                          </a:solidFill>
                        </a:rPr>
                        <a:t>WEEK 7</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r>
            </a:tbl>
          </a:graphicData>
        </a:graphic>
      </p:graphicFrame>
      <p:graphicFrame>
        <p:nvGraphicFramePr>
          <p:cNvPr id="87" name="Google Shape;87;p18"/>
          <p:cNvGraphicFramePr/>
          <p:nvPr/>
        </p:nvGraphicFramePr>
        <p:xfrm>
          <a:off x="595334" y="1171499"/>
          <a:ext cx="3000000" cy="3000000"/>
        </p:xfrm>
        <a:graphic>
          <a:graphicData uri="http://schemas.openxmlformats.org/drawingml/2006/table">
            <a:tbl>
              <a:tblPr>
                <a:noFill/>
                <a:tableStyleId>{37A2E053-07E2-4560-9BDE-82A63B5185E3}</a:tableStyleId>
              </a:tblPr>
              <a:tblGrid>
                <a:gridCol w="1148000"/>
                <a:gridCol w="1148000"/>
                <a:gridCol w="1148000"/>
                <a:gridCol w="1148000"/>
                <a:gridCol w="1148000"/>
                <a:gridCol w="1148000"/>
                <a:gridCol w="1148000"/>
              </a:tblGrid>
              <a:tr h="285750">
                <a:tc>
                  <a:txBody>
                    <a:bodyPr/>
                    <a:lstStyle/>
                    <a:p>
                      <a:pPr indent="0" lvl="0" marL="0" rtl="0" algn="ctr">
                        <a:spcBef>
                          <a:spcPts val="0"/>
                        </a:spcBef>
                        <a:spcAft>
                          <a:spcPts val="0"/>
                        </a:spcAft>
                        <a:buNone/>
                      </a:pPr>
                      <a:r>
                        <a:rPr b="1" lang="en-GB" sz="1100">
                          <a:solidFill>
                            <a:srgbClr val="FFFFFF"/>
                          </a:solidFill>
                        </a:rPr>
                        <a:t>February</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4B3C"/>
                    </a:solidFill>
                  </a:tcPr>
                </a:tc>
                <a:tc gridSpan="4">
                  <a:txBody>
                    <a:bodyPr/>
                    <a:lstStyle/>
                    <a:p>
                      <a:pPr indent="0" lvl="0" marL="0" rtl="0" algn="ctr">
                        <a:spcBef>
                          <a:spcPts val="0"/>
                        </a:spcBef>
                        <a:spcAft>
                          <a:spcPts val="0"/>
                        </a:spcAft>
                        <a:buNone/>
                      </a:pPr>
                      <a:r>
                        <a:rPr b="1" lang="en-GB" sz="1100">
                          <a:solidFill>
                            <a:srgbClr val="FFFFFF"/>
                          </a:solidFill>
                        </a:rPr>
                        <a:t>March</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4B3C"/>
                    </a:solidFill>
                  </a:tcPr>
                </a:tc>
                <a:tc hMerge="1"/>
                <a:tc hMerge="1"/>
                <a:tc hMerge="1"/>
                <a:tc gridSpan="2">
                  <a:txBody>
                    <a:bodyPr/>
                    <a:lstStyle/>
                    <a:p>
                      <a:pPr indent="0" lvl="0" marL="0" rtl="0" algn="ctr">
                        <a:spcBef>
                          <a:spcPts val="0"/>
                        </a:spcBef>
                        <a:spcAft>
                          <a:spcPts val="0"/>
                        </a:spcAft>
                        <a:buNone/>
                      </a:pPr>
                      <a:r>
                        <a:rPr b="1" lang="en-GB" sz="1100">
                          <a:solidFill>
                            <a:srgbClr val="FFFFFF"/>
                          </a:solidFill>
                        </a:rPr>
                        <a:t>April</a:t>
                      </a:r>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4B3C"/>
                    </a:solidFill>
                  </a:tcPr>
                </a:tc>
                <a:tc hMerge="1"/>
              </a:tr>
            </a:tbl>
          </a:graphicData>
        </a:graphic>
      </p:graphicFrame>
      <p:grpSp>
        <p:nvGrpSpPr>
          <p:cNvPr id="88" name="Google Shape;88;p18"/>
          <p:cNvGrpSpPr/>
          <p:nvPr/>
        </p:nvGrpSpPr>
        <p:grpSpPr>
          <a:xfrm>
            <a:off x="8575392" y="2727025"/>
            <a:ext cx="621600" cy="622112"/>
            <a:chOff x="7017942" y="2597250"/>
            <a:chExt cx="621600" cy="622112"/>
          </a:xfrm>
        </p:grpSpPr>
        <p:sp>
          <p:nvSpPr>
            <p:cNvPr id="89" name="Google Shape;89;p18"/>
            <p:cNvSpPr/>
            <p:nvPr/>
          </p:nvSpPr>
          <p:spPr>
            <a:xfrm>
              <a:off x="7237992" y="2597250"/>
              <a:ext cx="181500" cy="246000"/>
            </a:xfrm>
            <a:prstGeom prst="diamond">
              <a:avLst/>
            </a:prstGeom>
            <a:solidFill>
              <a:srgbClr val="1B81C4"/>
            </a:solidFill>
            <a:ln cap="flat" cmpd="sng" w="12700">
              <a:solidFill>
                <a:srgbClr val="4285F4"/>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300"/>
                <a:buFont typeface="Poppins"/>
                <a:buNone/>
              </a:pPr>
              <a:r>
                <a:t/>
              </a:r>
              <a:endParaRPr b="0" i="0" sz="1300" u="none" cap="none" strike="noStrike">
                <a:solidFill>
                  <a:srgbClr val="FFFFFF"/>
                </a:solidFill>
                <a:latin typeface="Poppins"/>
                <a:ea typeface="Poppins"/>
                <a:cs typeface="Poppins"/>
                <a:sym typeface="Poppins"/>
              </a:endParaRPr>
            </a:p>
          </p:txBody>
        </p:sp>
        <p:sp>
          <p:nvSpPr>
            <p:cNvPr id="90" name="Google Shape;90;p18"/>
            <p:cNvSpPr txBox="1"/>
            <p:nvPr/>
          </p:nvSpPr>
          <p:spPr>
            <a:xfrm>
              <a:off x="7017942" y="2848562"/>
              <a:ext cx="621600" cy="370800"/>
            </a:xfrm>
            <a:prstGeom prst="rect">
              <a:avLst/>
            </a:prstGeom>
            <a:noFill/>
            <a:ln>
              <a:noFill/>
            </a:ln>
          </p:spPr>
          <p:txBody>
            <a:bodyPr anchorCtr="0" anchor="t" bIns="45700" lIns="45700" spcFirstLastPara="1" rIns="45700" wrap="square" tIns="45700">
              <a:noAutofit/>
            </a:bodyPr>
            <a:lstStyle/>
            <a:p>
              <a:pPr indent="0" lvl="0" marL="0" marR="0" rtl="0" algn="ctr">
                <a:lnSpc>
                  <a:spcPct val="100000"/>
                </a:lnSpc>
                <a:spcBef>
                  <a:spcPts val="0"/>
                </a:spcBef>
                <a:spcAft>
                  <a:spcPts val="0"/>
                </a:spcAft>
                <a:buClr>
                  <a:srgbClr val="021237"/>
                </a:buClr>
                <a:buSzPts val="800"/>
                <a:buFont typeface="Poppins"/>
                <a:buNone/>
              </a:pPr>
              <a:r>
                <a:rPr lang="en-GB" sz="600">
                  <a:solidFill>
                    <a:srgbClr val="021237"/>
                  </a:solidFill>
                </a:rPr>
                <a:t>Project</a:t>
              </a:r>
              <a:endParaRPr sz="600">
                <a:solidFill>
                  <a:srgbClr val="021237"/>
                </a:solidFill>
              </a:endParaRPr>
            </a:p>
            <a:p>
              <a:pPr indent="0" lvl="0" marL="0" marR="0" rtl="0" algn="ctr">
                <a:lnSpc>
                  <a:spcPct val="100000"/>
                </a:lnSpc>
                <a:spcBef>
                  <a:spcPts val="0"/>
                </a:spcBef>
                <a:spcAft>
                  <a:spcPts val="0"/>
                </a:spcAft>
                <a:buClr>
                  <a:srgbClr val="021237"/>
                </a:buClr>
                <a:buSzPts val="800"/>
                <a:buFont typeface="Poppins"/>
                <a:buNone/>
              </a:pPr>
              <a:r>
                <a:rPr lang="en-GB" sz="600">
                  <a:solidFill>
                    <a:srgbClr val="021237"/>
                  </a:solidFill>
                </a:rPr>
                <a:t>end</a:t>
              </a:r>
              <a:endParaRPr sz="600">
                <a:solidFill>
                  <a:srgbClr val="021237"/>
                </a:solidFill>
              </a:endParaRPr>
            </a:p>
          </p:txBody>
        </p:sp>
      </p:grpSp>
      <p:grpSp>
        <p:nvGrpSpPr>
          <p:cNvPr id="91" name="Google Shape;91;p18"/>
          <p:cNvGrpSpPr/>
          <p:nvPr/>
        </p:nvGrpSpPr>
        <p:grpSpPr>
          <a:xfrm>
            <a:off x="61109" y="2750788"/>
            <a:ext cx="493800" cy="574574"/>
            <a:chOff x="32534" y="2597838"/>
            <a:chExt cx="493800" cy="574574"/>
          </a:xfrm>
        </p:grpSpPr>
        <p:sp>
          <p:nvSpPr>
            <p:cNvPr id="92" name="Google Shape;92;p18"/>
            <p:cNvSpPr/>
            <p:nvPr/>
          </p:nvSpPr>
          <p:spPr>
            <a:xfrm>
              <a:off x="189434" y="2597838"/>
              <a:ext cx="180000" cy="244800"/>
            </a:xfrm>
            <a:prstGeom prst="diamond">
              <a:avLst/>
            </a:prstGeom>
            <a:solidFill>
              <a:srgbClr val="1B81C4"/>
            </a:solidFill>
            <a:ln cap="flat" cmpd="sng" w="12700">
              <a:solidFill>
                <a:srgbClr val="4385F5"/>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300"/>
                <a:buFont typeface="Poppins"/>
                <a:buNone/>
              </a:pPr>
              <a:r>
                <a:t/>
              </a:r>
              <a:endParaRPr b="0" i="0" sz="1300" u="none" cap="none" strike="noStrike">
                <a:solidFill>
                  <a:srgbClr val="FFFFFF"/>
                </a:solidFill>
                <a:latin typeface="Poppins"/>
                <a:ea typeface="Poppins"/>
                <a:cs typeface="Poppins"/>
                <a:sym typeface="Poppins"/>
              </a:endParaRPr>
            </a:p>
          </p:txBody>
        </p:sp>
        <p:sp>
          <p:nvSpPr>
            <p:cNvPr id="93" name="Google Shape;93;p18"/>
            <p:cNvSpPr txBox="1"/>
            <p:nvPr/>
          </p:nvSpPr>
          <p:spPr>
            <a:xfrm>
              <a:off x="32534" y="2895512"/>
              <a:ext cx="493800" cy="276900"/>
            </a:xfrm>
            <a:prstGeom prst="rect">
              <a:avLst/>
            </a:prstGeom>
            <a:noFill/>
            <a:ln>
              <a:noFill/>
            </a:ln>
          </p:spPr>
          <p:txBody>
            <a:bodyPr anchorCtr="0" anchor="t" bIns="45700" lIns="45700" spcFirstLastPara="1" rIns="45700" wrap="square" tIns="45700">
              <a:noAutofit/>
            </a:bodyPr>
            <a:lstStyle/>
            <a:p>
              <a:pPr indent="0" lvl="0" marL="0" marR="0" rtl="0" algn="ctr">
                <a:lnSpc>
                  <a:spcPct val="100000"/>
                </a:lnSpc>
                <a:spcBef>
                  <a:spcPts val="0"/>
                </a:spcBef>
                <a:spcAft>
                  <a:spcPts val="0"/>
                </a:spcAft>
                <a:buClr>
                  <a:srgbClr val="021237"/>
                </a:buClr>
                <a:buSzPts val="800"/>
                <a:buFont typeface="Poppins"/>
                <a:buNone/>
              </a:pPr>
              <a:r>
                <a:rPr lang="en-GB" sz="600">
                  <a:solidFill>
                    <a:srgbClr val="021237"/>
                  </a:solidFill>
                </a:rPr>
                <a:t>Project start</a:t>
              </a:r>
              <a:endParaRPr sz="600"/>
            </a:p>
          </p:txBody>
        </p:sp>
      </p:grpSp>
      <p:grpSp>
        <p:nvGrpSpPr>
          <p:cNvPr id="94" name="Google Shape;94;p18"/>
          <p:cNvGrpSpPr/>
          <p:nvPr/>
        </p:nvGrpSpPr>
        <p:grpSpPr>
          <a:xfrm>
            <a:off x="8195600" y="1762638"/>
            <a:ext cx="684600" cy="2941167"/>
            <a:chOff x="7887300" y="1243280"/>
            <a:chExt cx="684600" cy="3013800"/>
          </a:xfrm>
        </p:grpSpPr>
        <p:cxnSp>
          <p:nvCxnSpPr>
            <p:cNvPr id="95" name="Google Shape;95;p18"/>
            <p:cNvCxnSpPr>
              <a:endCxn id="96" idx="0"/>
            </p:cNvCxnSpPr>
            <p:nvPr/>
          </p:nvCxnSpPr>
          <p:spPr>
            <a:xfrm>
              <a:off x="8229600" y="1243280"/>
              <a:ext cx="0" cy="2862900"/>
            </a:xfrm>
            <a:prstGeom prst="straightConnector1">
              <a:avLst/>
            </a:prstGeom>
            <a:noFill/>
            <a:ln cap="flat" cmpd="sng" w="9525">
              <a:solidFill>
                <a:srgbClr val="980000"/>
              </a:solidFill>
              <a:prstDash val="dash"/>
              <a:round/>
              <a:headEnd len="med" w="med" type="none"/>
              <a:tailEnd len="med" w="med" type="none"/>
            </a:ln>
          </p:spPr>
        </p:cxnSp>
        <p:sp>
          <p:nvSpPr>
            <p:cNvPr id="96" name="Google Shape;96;p18"/>
            <p:cNvSpPr txBox="1"/>
            <p:nvPr/>
          </p:nvSpPr>
          <p:spPr>
            <a:xfrm>
              <a:off x="7887300" y="4106180"/>
              <a:ext cx="684600" cy="1509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GB" sz="700">
                  <a:solidFill>
                    <a:srgbClr val="980000"/>
                  </a:solidFill>
                </a:rPr>
                <a:t>We are here</a:t>
              </a:r>
              <a:endParaRPr sz="700">
                <a:solidFill>
                  <a:srgbClr val="980000"/>
                </a:solidFill>
              </a:endParaRPr>
            </a:p>
          </p:txBody>
        </p:sp>
      </p:grpSp>
      <p:sp>
        <p:nvSpPr>
          <p:cNvPr id="97" name="Google Shape;97;p18"/>
          <p:cNvSpPr/>
          <p:nvPr/>
        </p:nvSpPr>
        <p:spPr>
          <a:xfrm>
            <a:off x="1547150" y="1913625"/>
            <a:ext cx="1931400" cy="339600"/>
          </a:xfrm>
          <a:prstGeom prst="rect">
            <a:avLst/>
          </a:prstGeom>
          <a:solidFill>
            <a:srgbClr val="006A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lt1"/>
                </a:solidFill>
              </a:rPr>
              <a:t>Understand Stakeholder Landscape, Requirements and Readiness </a:t>
            </a:r>
            <a:endParaRPr sz="800">
              <a:solidFill>
                <a:schemeClr val="lt1"/>
              </a:solidFill>
            </a:endParaRPr>
          </a:p>
        </p:txBody>
      </p:sp>
      <p:sp>
        <p:nvSpPr>
          <p:cNvPr id="98" name="Google Shape;98;p18"/>
          <p:cNvSpPr/>
          <p:nvPr/>
        </p:nvSpPr>
        <p:spPr>
          <a:xfrm>
            <a:off x="2622552" y="2728458"/>
            <a:ext cx="4856700" cy="339600"/>
          </a:xfrm>
          <a:prstGeom prst="rect">
            <a:avLst/>
          </a:prstGeom>
          <a:solidFill>
            <a:srgbClr val="006A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lt1"/>
                </a:solidFill>
              </a:rPr>
              <a:t>AI Briefing Hub Prototypes</a:t>
            </a:r>
            <a:endParaRPr sz="800">
              <a:solidFill>
                <a:schemeClr val="lt1"/>
              </a:solidFill>
            </a:endParaRPr>
          </a:p>
        </p:txBody>
      </p:sp>
      <p:sp>
        <p:nvSpPr>
          <p:cNvPr id="99" name="Google Shape;99;p18"/>
          <p:cNvSpPr/>
          <p:nvPr/>
        </p:nvSpPr>
        <p:spPr>
          <a:xfrm>
            <a:off x="4441278" y="3133681"/>
            <a:ext cx="3038100" cy="339600"/>
          </a:xfrm>
          <a:prstGeom prst="rect">
            <a:avLst/>
          </a:prstGeom>
          <a:solidFill>
            <a:srgbClr val="006A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lt1"/>
                </a:solidFill>
              </a:rPr>
              <a:t>Assessment of Prototypes</a:t>
            </a:r>
            <a:endParaRPr sz="800">
              <a:solidFill>
                <a:schemeClr val="lt1"/>
              </a:solidFill>
            </a:endParaRPr>
          </a:p>
        </p:txBody>
      </p:sp>
      <p:sp>
        <p:nvSpPr>
          <p:cNvPr id="100" name="Google Shape;100;p18"/>
          <p:cNvSpPr/>
          <p:nvPr/>
        </p:nvSpPr>
        <p:spPr>
          <a:xfrm>
            <a:off x="1766901" y="2329180"/>
            <a:ext cx="2247900" cy="339600"/>
          </a:xfrm>
          <a:prstGeom prst="rect">
            <a:avLst/>
          </a:prstGeom>
          <a:solidFill>
            <a:srgbClr val="006A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lt1"/>
                </a:solidFill>
              </a:rPr>
              <a:t>Assessment of AI Safety Considerations</a:t>
            </a:r>
            <a:endParaRPr sz="800">
              <a:solidFill>
                <a:schemeClr val="lt1"/>
              </a:solidFill>
            </a:endParaRPr>
          </a:p>
          <a:p>
            <a:pPr indent="0" lvl="0" marL="0" rtl="0" algn="ctr">
              <a:spcBef>
                <a:spcPts val="0"/>
              </a:spcBef>
              <a:spcAft>
                <a:spcPts val="0"/>
              </a:spcAft>
              <a:buNone/>
            </a:pPr>
            <a:r>
              <a:rPr lang="en-GB" sz="800">
                <a:solidFill>
                  <a:schemeClr val="lt1"/>
                </a:solidFill>
              </a:rPr>
              <a:t>and Guardrails</a:t>
            </a:r>
            <a:endParaRPr sz="800">
              <a:solidFill>
                <a:schemeClr val="lt1"/>
              </a:solidFill>
            </a:endParaRPr>
          </a:p>
        </p:txBody>
      </p:sp>
      <p:sp>
        <p:nvSpPr>
          <p:cNvPr id="101" name="Google Shape;101;p18"/>
          <p:cNvSpPr/>
          <p:nvPr/>
        </p:nvSpPr>
        <p:spPr>
          <a:xfrm>
            <a:off x="4443898" y="3526968"/>
            <a:ext cx="2437800" cy="339600"/>
          </a:xfrm>
          <a:prstGeom prst="rect">
            <a:avLst/>
          </a:prstGeom>
          <a:solidFill>
            <a:srgbClr val="006A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lt1"/>
                </a:solidFill>
              </a:rPr>
              <a:t>Assessment of Technology Landscape and Considerations</a:t>
            </a:r>
            <a:endParaRPr sz="800">
              <a:solidFill>
                <a:schemeClr val="lt1"/>
              </a:solidFill>
            </a:endParaRPr>
          </a:p>
        </p:txBody>
      </p:sp>
      <p:sp>
        <p:nvSpPr>
          <p:cNvPr id="102" name="Google Shape;102;p18"/>
          <p:cNvSpPr/>
          <p:nvPr/>
        </p:nvSpPr>
        <p:spPr>
          <a:xfrm>
            <a:off x="5720776" y="3924996"/>
            <a:ext cx="2910600" cy="339600"/>
          </a:xfrm>
          <a:prstGeom prst="rect">
            <a:avLst/>
          </a:prstGeom>
          <a:solidFill>
            <a:srgbClr val="006A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lt1"/>
                </a:solidFill>
              </a:rPr>
              <a:t>Final Report </a:t>
            </a:r>
            <a:endParaRPr sz="8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Firestore Schema (JSON)</a:t>
            </a:r>
            <a:endParaRPr/>
          </a:p>
        </p:txBody>
      </p:sp>
      <p:sp>
        <p:nvSpPr>
          <p:cNvPr id="108" name="Google Shape;108;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Clr>
                <a:schemeClr val="dk1"/>
              </a:buClr>
              <a:buSzPct val="25428"/>
              <a:buFont typeface="Arial"/>
              <a:buNone/>
            </a:pPr>
            <a:r>
              <a:rPr lang="en-GB" sz="4326">
                <a:solidFill>
                  <a:schemeClr val="dk1"/>
                </a:solidFill>
              </a:rPr>
              <a:t>{</a:t>
            </a:r>
            <a:endParaRPr sz="4326">
              <a:solidFill>
                <a:schemeClr val="dk1"/>
              </a:solidFill>
            </a:endParaRPr>
          </a:p>
          <a:p>
            <a:pPr indent="0" lvl="0" marL="0" rtl="0" algn="l">
              <a:spcBef>
                <a:spcPts val="1200"/>
              </a:spcBef>
              <a:spcAft>
                <a:spcPts val="0"/>
              </a:spcAft>
              <a:buClr>
                <a:schemeClr val="dk1"/>
              </a:buClr>
              <a:buSzPct val="25428"/>
              <a:buFont typeface="Arial"/>
              <a:buNone/>
            </a:pPr>
            <a:r>
              <a:rPr lang="en-GB" sz="4326">
                <a:solidFill>
                  <a:schemeClr val="dk1"/>
                </a:solidFill>
              </a:rPr>
              <a:t>  // Document ID: organizations/123/sources/456/findings/abc</a:t>
            </a:r>
            <a:endParaRPr sz="4326">
              <a:solidFill>
                <a:schemeClr val="dk1"/>
              </a:solidFill>
            </a:endParaRPr>
          </a:p>
          <a:p>
            <a:pPr indent="0" lvl="0" marL="0" rtl="0" algn="l">
              <a:spcBef>
                <a:spcPts val="1200"/>
              </a:spcBef>
              <a:spcAft>
                <a:spcPts val="0"/>
              </a:spcAft>
              <a:buClr>
                <a:schemeClr val="dk1"/>
              </a:buClr>
              <a:buSzPct val="25428"/>
              <a:buFont typeface="Arial"/>
              <a:buNone/>
            </a:pPr>
            <a:r>
              <a:rPr lang="en-GB" sz="4326">
                <a:solidFill>
                  <a:schemeClr val="dk1"/>
                </a:solidFill>
              </a:rPr>
              <a:t>  </a:t>
            </a:r>
            <a:r>
              <a:rPr lang="en-GB" sz="4326">
                <a:solidFill>
                  <a:srgbClr val="FF00FF"/>
                </a:solidFill>
              </a:rPr>
              <a:t>"status"</a:t>
            </a:r>
            <a:r>
              <a:rPr lang="en-GB" sz="4326">
                <a:solidFill>
                  <a:schemeClr val="dk1"/>
                </a:solidFill>
              </a:rPr>
              <a:t>: </a:t>
            </a:r>
            <a:r>
              <a:rPr lang="en-GB" sz="4326">
                <a:solidFill>
                  <a:srgbClr val="00FF00"/>
                </a:solidFill>
              </a:rPr>
              <a:t>"PR_OPEN"</a:t>
            </a:r>
            <a:r>
              <a:rPr lang="en-GB" sz="4326">
                <a:solidFill>
                  <a:schemeClr val="dk1"/>
                </a:solidFill>
              </a:rPr>
              <a:t>,</a:t>
            </a:r>
            <a:endParaRPr sz="4326">
              <a:solidFill>
                <a:schemeClr val="dk1"/>
              </a:solidFill>
            </a:endParaRPr>
          </a:p>
          <a:p>
            <a:pPr indent="0" lvl="0" marL="0" rtl="0" algn="l">
              <a:spcBef>
                <a:spcPts val="1200"/>
              </a:spcBef>
              <a:spcAft>
                <a:spcPts val="0"/>
              </a:spcAft>
              <a:buClr>
                <a:schemeClr val="dk1"/>
              </a:buClr>
              <a:buSzPct val="25428"/>
              <a:buFont typeface="Arial"/>
              <a:buNone/>
            </a:pPr>
            <a:r>
              <a:rPr lang="en-GB" sz="4326">
                <a:solidFill>
                  <a:schemeClr val="dk1"/>
                </a:solidFill>
              </a:rPr>
              <a:t>  </a:t>
            </a:r>
            <a:r>
              <a:rPr lang="en-GB" sz="4326">
                <a:solidFill>
                  <a:srgbClr val="FF00FF"/>
                </a:solidFill>
              </a:rPr>
              <a:t>"resource_name"</a:t>
            </a:r>
            <a:r>
              <a:rPr lang="en-GB" sz="4326">
                <a:solidFill>
                  <a:schemeClr val="dk1"/>
                </a:solidFill>
              </a:rPr>
              <a:t>: </a:t>
            </a:r>
            <a:r>
              <a:rPr lang="en-GB" sz="4326">
                <a:solidFill>
                  <a:srgbClr val="00FF00"/>
                </a:solidFill>
              </a:rPr>
              <a:t>"//storage.googleapis.com/prod-customer-data"</a:t>
            </a:r>
            <a:r>
              <a:rPr lang="en-GB" sz="4326">
                <a:solidFill>
                  <a:schemeClr val="dk1"/>
                </a:solidFill>
              </a:rPr>
              <a:t>,</a:t>
            </a:r>
            <a:endParaRPr sz="4326">
              <a:solidFill>
                <a:schemeClr val="dk1"/>
              </a:solidFill>
            </a:endParaRPr>
          </a:p>
          <a:p>
            <a:pPr indent="0" lvl="0" marL="0" rtl="0" algn="l">
              <a:spcBef>
                <a:spcPts val="1200"/>
              </a:spcBef>
              <a:spcAft>
                <a:spcPts val="0"/>
              </a:spcAft>
              <a:buClr>
                <a:schemeClr val="dk1"/>
              </a:buClr>
              <a:buSzPct val="25428"/>
              <a:buFont typeface="Arial"/>
              <a:buNone/>
            </a:pPr>
            <a:r>
              <a:rPr lang="en-GB" sz="4326">
                <a:solidFill>
                  <a:schemeClr val="dk1"/>
                </a:solidFill>
              </a:rPr>
              <a:t>  </a:t>
            </a:r>
            <a:r>
              <a:rPr lang="en-GB" sz="4326">
                <a:solidFill>
                  <a:srgbClr val="FF00FF"/>
                </a:solidFill>
              </a:rPr>
              <a:t>"category"</a:t>
            </a:r>
            <a:r>
              <a:rPr lang="en-GB" sz="4326">
                <a:solidFill>
                  <a:schemeClr val="dk1"/>
                </a:solidFill>
              </a:rPr>
              <a:t>: </a:t>
            </a:r>
            <a:r>
              <a:rPr lang="en-GB" sz="4326">
                <a:solidFill>
                  <a:srgbClr val="00FF00"/>
                </a:solidFill>
              </a:rPr>
              <a:t>"PUBLIC_BUCKET_IAM"</a:t>
            </a:r>
            <a:r>
              <a:rPr lang="en-GB" sz="4326">
                <a:solidFill>
                  <a:schemeClr val="dk1"/>
                </a:solidFill>
              </a:rPr>
              <a:t>,</a:t>
            </a:r>
            <a:endParaRPr sz="4326">
              <a:solidFill>
                <a:schemeClr val="dk1"/>
              </a:solidFill>
            </a:endParaRPr>
          </a:p>
          <a:p>
            <a:pPr indent="0" lvl="0" marL="0" rtl="0" algn="l">
              <a:spcBef>
                <a:spcPts val="1200"/>
              </a:spcBef>
              <a:spcAft>
                <a:spcPts val="0"/>
              </a:spcAft>
              <a:buClr>
                <a:schemeClr val="dk1"/>
              </a:buClr>
              <a:buSzPct val="25428"/>
              <a:buFont typeface="Arial"/>
              <a:buNone/>
            </a:pPr>
            <a:r>
              <a:rPr lang="en-GB" sz="4326">
                <a:solidFill>
                  <a:schemeClr val="dk1"/>
                </a:solidFill>
              </a:rPr>
              <a:t>  </a:t>
            </a:r>
            <a:r>
              <a:rPr lang="en-GB" sz="4326">
                <a:solidFill>
                  <a:srgbClr val="FF00FF"/>
                </a:solidFill>
              </a:rPr>
              <a:t>"severity"</a:t>
            </a:r>
            <a:r>
              <a:rPr lang="en-GB" sz="4326">
                <a:solidFill>
                  <a:schemeClr val="dk1"/>
                </a:solidFill>
              </a:rPr>
              <a:t>: </a:t>
            </a:r>
            <a:r>
              <a:rPr lang="en-GB" sz="4326">
                <a:solidFill>
                  <a:srgbClr val="00FF00"/>
                </a:solidFill>
              </a:rPr>
              <a:t>"HIGH"</a:t>
            </a:r>
            <a:r>
              <a:rPr lang="en-GB" sz="4326">
                <a:solidFill>
                  <a:schemeClr val="dk1"/>
                </a:solidFill>
              </a:rPr>
              <a:t>,</a:t>
            </a:r>
            <a:endParaRPr sz="4326">
              <a:solidFill>
                <a:schemeClr val="dk1"/>
              </a:solidFill>
            </a:endParaRPr>
          </a:p>
          <a:p>
            <a:pPr indent="0" lvl="0" marL="0" rtl="0" algn="l">
              <a:spcBef>
                <a:spcPts val="1200"/>
              </a:spcBef>
              <a:spcAft>
                <a:spcPts val="0"/>
              </a:spcAft>
              <a:buClr>
                <a:schemeClr val="dk1"/>
              </a:buClr>
              <a:buSzPct val="25428"/>
              <a:buFont typeface="Arial"/>
              <a:buNone/>
            </a:pPr>
            <a:r>
              <a:rPr lang="en-GB" sz="4326">
                <a:solidFill>
                  <a:schemeClr val="dk1"/>
                </a:solidFill>
              </a:rPr>
              <a:t>  </a:t>
            </a:r>
            <a:r>
              <a:rPr lang="en-GB" sz="4326">
                <a:solidFill>
                  <a:srgbClr val="FF00FF"/>
                </a:solidFill>
              </a:rPr>
              <a:t>"created_at"</a:t>
            </a:r>
            <a:r>
              <a:rPr lang="en-GB" sz="4326">
                <a:solidFill>
                  <a:schemeClr val="dk1"/>
                </a:solidFill>
              </a:rPr>
              <a:t>: </a:t>
            </a:r>
            <a:r>
              <a:rPr lang="en-GB" sz="4326">
                <a:solidFill>
                  <a:srgbClr val="00FF00"/>
                </a:solidFill>
              </a:rPr>
              <a:t>"2026-10-14T15:30:00Z"</a:t>
            </a:r>
            <a:r>
              <a:rPr lang="en-GB" sz="4326">
                <a:solidFill>
                  <a:schemeClr val="dk1"/>
                </a:solidFill>
              </a:rPr>
              <a:t>,</a:t>
            </a:r>
            <a:endParaRPr sz="4326">
              <a:solidFill>
                <a:schemeClr val="dk1"/>
              </a:solidFill>
            </a:endParaRPr>
          </a:p>
          <a:p>
            <a:pPr indent="0" lvl="0" marL="0" rtl="0" algn="l">
              <a:spcBef>
                <a:spcPts val="1200"/>
              </a:spcBef>
              <a:spcAft>
                <a:spcPts val="0"/>
              </a:spcAft>
              <a:buClr>
                <a:schemeClr val="dk1"/>
              </a:buClr>
              <a:buSzPct val="25428"/>
              <a:buFont typeface="Arial"/>
              <a:buNone/>
            </a:pPr>
            <a:r>
              <a:rPr lang="en-GB" sz="4326">
                <a:solidFill>
                  <a:schemeClr val="dk1"/>
                </a:solidFill>
              </a:rPr>
              <a:t>  </a:t>
            </a:r>
            <a:r>
              <a:rPr lang="en-GB" sz="4326">
                <a:solidFill>
                  <a:srgbClr val="FF00FF"/>
                </a:solidFill>
              </a:rPr>
              <a:t>"updated_at"</a:t>
            </a:r>
            <a:r>
              <a:rPr lang="en-GB" sz="4326">
                <a:solidFill>
                  <a:schemeClr val="dk1"/>
                </a:solidFill>
              </a:rPr>
              <a:t>: </a:t>
            </a:r>
            <a:r>
              <a:rPr lang="en-GB" sz="4326">
                <a:solidFill>
                  <a:srgbClr val="00FF00"/>
                </a:solidFill>
              </a:rPr>
              <a:t>"2026-10-15T09:12:00Z"</a:t>
            </a:r>
            <a:r>
              <a:rPr lang="en-GB" sz="4326">
                <a:solidFill>
                  <a:schemeClr val="dk1"/>
                </a:solidFill>
              </a:rPr>
              <a:t>,</a:t>
            </a:r>
            <a:endParaRPr sz="4326">
              <a:solidFill>
                <a:schemeClr val="dk1"/>
              </a:solidFill>
            </a:endParaRPr>
          </a:p>
          <a:p>
            <a:pPr indent="0" lvl="0" marL="0" rtl="0" algn="l">
              <a:spcBef>
                <a:spcPts val="1200"/>
              </a:spcBef>
              <a:spcAft>
                <a:spcPts val="0"/>
              </a:spcAft>
              <a:buClr>
                <a:schemeClr val="dk1"/>
              </a:buClr>
              <a:buSzPct val="25428"/>
              <a:buFont typeface="Arial"/>
              <a:buNone/>
            </a:pPr>
            <a:r>
              <a:rPr lang="en-GB" sz="4326">
                <a:solidFill>
                  <a:schemeClr val="dk1"/>
                </a:solidFill>
              </a:rPr>
              <a:t>  </a:t>
            </a:r>
            <a:r>
              <a:rPr lang="en-GB" sz="4326">
                <a:solidFill>
                  <a:srgbClr val="FF00FF"/>
                </a:solidFill>
              </a:rPr>
              <a:t>"chat_message_id"</a:t>
            </a:r>
            <a:r>
              <a:rPr lang="en-GB" sz="4326">
                <a:solidFill>
                  <a:schemeClr val="dk1"/>
                </a:solidFill>
              </a:rPr>
              <a:t>: </a:t>
            </a:r>
            <a:r>
              <a:rPr lang="en-GB" sz="4326">
                <a:solidFill>
                  <a:srgbClr val="00FF00"/>
                </a:solidFill>
              </a:rPr>
              <a:t>"spaces/AAAABBBCCC/messages/123456"</a:t>
            </a:r>
            <a:r>
              <a:rPr lang="en-GB" sz="4326">
                <a:solidFill>
                  <a:schemeClr val="dk1"/>
                </a:solidFill>
              </a:rPr>
              <a:t>,</a:t>
            </a:r>
            <a:endParaRPr sz="4326">
              <a:solidFill>
                <a:schemeClr val="dk1"/>
              </a:solidFill>
            </a:endParaRPr>
          </a:p>
          <a:p>
            <a:pPr indent="0" lvl="0" marL="0" rtl="0" algn="l">
              <a:spcBef>
                <a:spcPts val="1200"/>
              </a:spcBef>
              <a:spcAft>
                <a:spcPts val="0"/>
              </a:spcAft>
              <a:buClr>
                <a:schemeClr val="dk1"/>
              </a:buClr>
              <a:buSzPct val="25428"/>
              <a:buFont typeface="Arial"/>
              <a:buNone/>
            </a:pPr>
            <a:r>
              <a:rPr lang="en-GB" sz="4326">
                <a:solidFill>
                  <a:schemeClr val="dk1"/>
                </a:solidFill>
              </a:rPr>
              <a:t>  </a:t>
            </a:r>
            <a:r>
              <a:rPr lang="en-GB" sz="4326">
                <a:solidFill>
                  <a:srgbClr val="FF00FF"/>
                </a:solidFill>
              </a:rPr>
              <a:t>"handled_by"</a:t>
            </a:r>
            <a:r>
              <a:rPr lang="en-GB" sz="4326">
                <a:solidFill>
                  <a:schemeClr val="dk1"/>
                </a:solidFill>
              </a:rPr>
              <a:t>: </a:t>
            </a:r>
            <a:r>
              <a:rPr lang="en-GB" sz="4326">
                <a:solidFill>
                  <a:srgbClr val="00FF00"/>
                </a:solidFill>
              </a:rPr>
              <a:t>"anthony.youssef@goreply.com"</a:t>
            </a:r>
            <a:endParaRPr sz="4326">
              <a:solidFill>
                <a:srgbClr val="00FF00"/>
              </a:solidFill>
            </a:endParaRPr>
          </a:p>
          <a:p>
            <a:pPr indent="0" lvl="0" marL="0" rtl="0" algn="l">
              <a:spcBef>
                <a:spcPts val="1200"/>
              </a:spcBef>
              <a:spcAft>
                <a:spcPts val="0"/>
              </a:spcAft>
              <a:buClr>
                <a:schemeClr val="dk1"/>
              </a:buClr>
              <a:buSzPct val="25428"/>
              <a:buFont typeface="Arial"/>
              <a:buNone/>
            </a:pPr>
            <a:r>
              <a:rPr lang="en-GB" sz="4326">
                <a:solidFill>
                  <a:schemeClr val="dk1"/>
                </a:solidFill>
              </a:rPr>
              <a:t>}</a:t>
            </a:r>
            <a:endParaRPr sz="4326">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BigQuery Schema (SQL)</a:t>
            </a:r>
            <a:endParaRPr/>
          </a:p>
        </p:txBody>
      </p:sp>
      <p:sp>
        <p:nvSpPr>
          <p:cNvPr id="114" name="Google Shape;11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Clr>
                <a:schemeClr val="dk1"/>
              </a:buClr>
              <a:buSzPct val="30919"/>
              <a:buFont typeface="Arial"/>
              <a:buNone/>
            </a:pPr>
            <a:r>
              <a:rPr lang="en-GB" sz="3558">
                <a:solidFill>
                  <a:srgbClr val="9900FF"/>
                </a:solidFill>
              </a:rPr>
              <a:t>CREATE TABLE</a:t>
            </a:r>
            <a:r>
              <a:rPr lang="en-GB" sz="3558">
                <a:solidFill>
                  <a:schemeClr val="dk1"/>
                </a:solidFill>
              </a:rPr>
              <a:t> `your-project.scc_analytics.alerts_state` (</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chemeClr val="dk1"/>
                </a:solidFill>
              </a:rPr>
              <a:t>  finding_name STRING </a:t>
            </a:r>
            <a:r>
              <a:rPr lang="en-GB" sz="3558">
                <a:solidFill>
                  <a:srgbClr val="9900FF"/>
                </a:solidFill>
              </a:rPr>
              <a:t>NOT NULL</a:t>
            </a:r>
            <a:r>
              <a:rPr lang="en-GB" sz="3558">
                <a:solidFill>
                  <a:schemeClr val="dk1"/>
                </a:solidFill>
              </a:rPr>
              <a:t> OPTIONS(description="The unique SCC finding name (Document ID in Firestore)"),</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chemeClr val="dk1"/>
                </a:solidFill>
              </a:rPr>
              <a:t>  status STRING </a:t>
            </a:r>
            <a:r>
              <a:rPr lang="en-GB" sz="3558">
                <a:solidFill>
                  <a:srgbClr val="9900FF"/>
                </a:solidFill>
              </a:rPr>
              <a:t>NOT NULL</a:t>
            </a:r>
            <a:r>
              <a:rPr lang="en-GB" sz="3558">
                <a:solidFill>
                  <a:schemeClr val="dk1"/>
                </a:solidFill>
              </a:rPr>
              <a:t> OPTIONS(description="Current state: NOTIFIED, ACKNOWLEDGED, PR_OPEN, RESOLVED, IGNORED"),</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chemeClr val="dk1"/>
                </a:solidFill>
              </a:rPr>
              <a:t>  resource_name STRING OPTIONS(description="The GCP resource affected (e.g., projects/my-proj/buckets/data)"),</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chemeClr val="dk1"/>
                </a:solidFill>
              </a:rPr>
              <a:t>  category STRING OPTIONS(description="The type of finding (e.g., PUBLIC_BUCKET_IAM)"),</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chemeClr val="dk1"/>
                </a:solidFill>
              </a:rPr>
              <a:t>  severity STRING OPTIONS(description="CRITICAL, HIGH, MEDIUM, LOW"),</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chemeClr val="dk1"/>
                </a:solidFill>
              </a:rPr>
              <a:t>  created_at </a:t>
            </a:r>
            <a:r>
              <a:rPr lang="en-GB" sz="3558">
                <a:solidFill>
                  <a:srgbClr val="9900FF"/>
                </a:solidFill>
              </a:rPr>
              <a:t>TIMESTAMP</a:t>
            </a:r>
            <a:r>
              <a:rPr lang="en-GB" sz="3558">
                <a:solidFill>
                  <a:schemeClr val="dk1"/>
                </a:solidFill>
              </a:rPr>
              <a:t> OPTIONS(description="When the finding was first ingested"),</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chemeClr val="dk1"/>
                </a:solidFill>
              </a:rPr>
              <a:t>  updated_at </a:t>
            </a:r>
            <a:r>
              <a:rPr lang="en-GB" sz="3558">
                <a:solidFill>
                  <a:srgbClr val="9900FF"/>
                </a:solidFill>
              </a:rPr>
              <a:t>TIMESTAMP</a:t>
            </a:r>
            <a:r>
              <a:rPr lang="en-GB" sz="3558">
                <a:solidFill>
                  <a:schemeClr val="dk1"/>
                </a:solidFill>
              </a:rPr>
              <a:t> OPTIONS(description="When the status was last changed"),</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chemeClr val="dk1"/>
                </a:solidFill>
              </a:rPr>
              <a:t>  chat_message_id STRING OPTIONS(description="The ID of the Google Chat message"),</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chemeClr val="dk1"/>
                </a:solidFill>
              </a:rPr>
              <a:t>  handled_by STRING OPTIONS(description="The email of the engineer who took action")</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chemeClr val="dk1"/>
                </a:solidFill>
              </a:rPr>
              <a:t>)</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rgbClr val="9900FF"/>
                </a:solidFill>
              </a:rPr>
              <a:t>PARTITION BY DATE</a:t>
            </a:r>
            <a:r>
              <a:rPr lang="en-GB" sz="3558">
                <a:solidFill>
                  <a:schemeClr val="dk1"/>
                </a:solidFill>
              </a:rPr>
              <a:t>(created_at);</a:t>
            </a:r>
            <a:endParaRPr sz="3558">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Notes</a:t>
            </a:r>
            <a:endParaRPr/>
          </a:p>
        </p:txBody>
      </p:sp>
      <p:sp>
        <p:nvSpPr>
          <p:cNvPr id="120" name="Google Shape;120;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Clr>
                <a:schemeClr val="dk1"/>
              </a:buClr>
              <a:buSzPct val="122222"/>
              <a:buFont typeface="Arial"/>
              <a:buNone/>
            </a:pPr>
            <a:r>
              <a:rPr lang="en-GB" sz="900">
                <a:solidFill>
                  <a:schemeClr val="dk1"/>
                </a:solidFill>
              </a:rPr>
              <a:t>Vertex AI to clean SCC logs</a:t>
            </a:r>
            <a:endParaRPr sz="900">
              <a:solidFill>
                <a:schemeClr val="dk1"/>
              </a:solidFill>
            </a:endParaRPr>
          </a:p>
          <a:p>
            <a:pPr indent="0" lvl="0" marL="0" rtl="0" algn="l">
              <a:spcBef>
                <a:spcPts val="1200"/>
              </a:spcBef>
              <a:spcAft>
                <a:spcPts val="0"/>
              </a:spcAft>
              <a:buClr>
                <a:schemeClr val="dk1"/>
              </a:buClr>
              <a:buSzPct val="122222"/>
              <a:buFont typeface="Arial"/>
              <a:buNone/>
            </a:pPr>
            <a:r>
              <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agent for recursive code corrections</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agent with a couple tools</a:t>
            </a:r>
            <a:endParaRPr sz="900">
              <a:solidFill>
                <a:schemeClr val="dk1"/>
              </a:solidFill>
            </a:endParaRPr>
          </a:p>
          <a:p>
            <a:pPr indent="0" lvl="0" marL="0" rtl="0" algn="l">
              <a:spcBef>
                <a:spcPts val="0"/>
              </a:spcBef>
              <a:spcAft>
                <a:spcPts val="0"/>
              </a:spcAft>
              <a:buClr>
                <a:schemeClr val="dk1"/>
              </a:buClr>
              <a:buSzPct val="122222"/>
              <a:buFont typeface="Arial"/>
              <a:buNone/>
            </a:pPr>
            <a:r>
              <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Big query canvas not looker</a:t>
            </a:r>
            <a:endParaRPr sz="900">
              <a:solidFill>
                <a:schemeClr val="dk1"/>
              </a:solidFill>
            </a:endParaRPr>
          </a:p>
          <a:p>
            <a:pPr indent="0" lvl="0" marL="0" rtl="0" algn="l">
              <a:spcBef>
                <a:spcPts val="0"/>
              </a:spcBef>
              <a:spcAft>
                <a:spcPts val="0"/>
              </a:spcAft>
              <a:buClr>
                <a:schemeClr val="dk1"/>
              </a:buClr>
              <a:buSzPct val="122222"/>
              <a:buFont typeface="Arial"/>
              <a:buNone/>
            </a:pPr>
            <a:r>
              <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high level goals (by the end of the week have map/gitops integration) for me</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higher level goals for management</a:t>
            </a:r>
            <a:endParaRPr sz="900">
              <a:solidFill>
                <a:schemeClr val="dk1"/>
              </a:solidFill>
            </a:endParaRPr>
          </a:p>
          <a:p>
            <a:pPr indent="0" lvl="0" marL="0" rtl="0" algn="l">
              <a:spcBef>
                <a:spcPts val="0"/>
              </a:spcBef>
              <a:spcAft>
                <a:spcPts val="0"/>
              </a:spcAft>
              <a:buClr>
                <a:schemeClr val="dk1"/>
              </a:buClr>
              <a:buSzPct val="122222"/>
              <a:buFont typeface="Arial"/>
              <a:buNone/>
            </a:pPr>
            <a:r>
              <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ANTIGRAV</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is this the right thing</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ratelogs for risk</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s/w</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help with timelines</a:t>
            </a:r>
            <a:endParaRPr sz="900">
              <a:solidFill>
                <a:schemeClr val="dk1"/>
              </a:solidFill>
            </a:endParaRPr>
          </a:p>
          <a:p>
            <a:pPr indent="0" lvl="0" marL="0" rtl="0" algn="l">
              <a:spcBef>
                <a:spcPts val="0"/>
              </a:spcBef>
              <a:spcAft>
                <a:spcPts val="0"/>
              </a:spcAft>
              <a:buClr>
                <a:schemeClr val="dk1"/>
              </a:buClr>
              <a:buSzPct val="122222"/>
              <a:buFont typeface="Arial"/>
              <a:buNone/>
            </a:pPr>
            <a:r>
              <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KNOW WHAT SCC CAN DO</a:t>
            </a:r>
            <a:endParaRPr sz="900">
              <a:solidFill>
                <a:schemeClr val="dk1"/>
              </a:solidFill>
            </a:endParaRPr>
          </a:p>
          <a:p>
            <a:pPr indent="0" lvl="0" marL="0" rtl="0" algn="l">
              <a:spcBef>
                <a:spcPts val="0"/>
              </a:spcBef>
              <a:spcAft>
                <a:spcPts val="1200"/>
              </a:spcAft>
              <a:buNone/>
            </a:pPr>
            <a:r>
              <a:rPr lang="en-GB"/>
              <a:t>For this week, I want you to set up a folder and drive and put everything you require into it so we can share the details there. Also, research SCC thoroughly on how to start integrating and exporting it, and how that works. Remind me to start building a project on GCP. For yourself, use anti-gravity to create a risk log that simulates the reality of an actual project. Then, create two high-level diagrams: one for the actual presentation, showcasing the high-level stuff like research, and another for the building steps. Finally, create a slightly lower-level diagram for you to do on a daily or weekly basis.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meline Theme">
  <a:themeElements>
    <a:clrScheme name="DfT_Set 1">
      <a:dk1>
        <a:srgbClr val="161616"/>
      </a:dk1>
      <a:lt1>
        <a:srgbClr val="FFFFFF"/>
      </a:lt1>
      <a:dk2>
        <a:srgbClr val="161616"/>
      </a:dk2>
      <a:lt2>
        <a:srgbClr val="EEF1F2"/>
      </a:lt2>
      <a:accent1>
        <a:srgbClr val="006853"/>
      </a:accent1>
      <a:accent2>
        <a:srgbClr val="1DE9B6"/>
      </a:accent2>
      <a:accent3>
        <a:srgbClr val="15B542"/>
      </a:accent3>
      <a:accent4>
        <a:srgbClr val="161616"/>
      </a:accent4>
      <a:accent5>
        <a:srgbClr val="EEF1F2"/>
      </a:accent5>
      <a:accent6>
        <a:srgbClr val="626262"/>
      </a:accent6>
      <a:hlink>
        <a:srgbClr val="0082CA"/>
      </a:hlink>
      <a:folHlink>
        <a:srgbClr val="006A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